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61" r:id="rId3"/>
    <p:sldId id="262" r:id="rId4"/>
    <p:sldId id="263" r:id="rId5"/>
    <p:sldId id="264" r:id="rId6"/>
    <p:sldId id="274" r:id="rId7"/>
    <p:sldId id="272" r:id="rId8"/>
    <p:sldId id="273" r:id="rId9"/>
    <p:sldId id="275" r:id="rId10"/>
    <p:sldId id="279" r:id="rId11"/>
    <p:sldId id="276" r:id="rId12"/>
    <p:sldId id="278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8" r:id="rId21"/>
    <p:sldId id="265" r:id="rId22"/>
    <p:sldId id="289" r:id="rId23"/>
    <p:sldId id="290" r:id="rId24"/>
    <p:sldId id="266" r:id="rId25"/>
    <p:sldId id="291" r:id="rId26"/>
    <p:sldId id="292" r:id="rId27"/>
    <p:sldId id="293" r:id="rId28"/>
    <p:sldId id="294" r:id="rId29"/>
    <p:sldId id="295" r:id="rId30"/>
    <p:sldId id="296" r:id="rId31"/>
    <p:sldId id="260" r:id="rId32"/>
    <p:sldId id="298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000000"/>
    <a:srgbClr val="C7C7C7"/>
    <a:srgbClr val="E6E7F6"/>
    <a:srgbClr val="7F7F7F"/>
    <a:srgbClr val="FFA59B"/>
    <a:srgbClr val="9CFE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50" autoAdjust="0"/>
  </p:normalViewPr>
  <p:slideViewPr>
    <p:cSldViewPr>
      <p:cViewPr varScale="1">
        <p:scale>
          <a:sx n="86" d="100"/>
          <a:sy n="86" d="100"/>
        </p:scale>
        <p:origin x="-822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69850" algn="l" rtl="0">
              <a:spcBef>
                <a:spcPts val="0"/>
              </a:spcBef>
              <a:buSzPct val="100000"/>
              <a:buFont typeface="Arial"/>
              <a:buChar char="●"/>
              <a:defRPr sz="1100" b="0" i="0" u="none" strike="noStrike" cap="none"/>
            </a:lvl1pPr>
            <a:lvl2pPr marL="0" marR="0" lvl="1" indent="69850" algn="l" rtl="0">
              <a:spcBef>
                <a:spcPts val="0"/>
              </a:spcBef>
              <a:buSzPct val="100000"/>
              <a:buFont typeface="Arial"/>
              <a:buChar char="○"/>
              <a:defRPr sz="1100" b="0" i="0" u="none" strike="noStrike" cap="none"/>
            </a:lvl2pPr>
            <a:lvl3pPr marL="0" marR="0" lvl="2" indent="69850" algn="l" rtl="0">
              <a:spcBef>
                <a:spcPts val="0"/>
              </a:spcBef>
              <a:buSzPct val="100000"/>
              <a:buFont typeface="Arial"/>
              <a:buChar char="■"/>
              <a:defRPr sz="1100" b="0" i="0" u="none" strike="noStrike" cap="none"/>
            </a:lvl3pPr>
            <a:lvl4pPr marL="0" marR="0" lvl="3" indent="69850" algn="l" rtl="0">
              <a:spcBef>
                <a:spcPts val="0"/>
              </a:spcBef>
              <a:buSzPct val="100000"/>
              <a:buFont typeface="Arial"/>
              <a:buChar char="●"/>
              <a:defRPr sz="1100" b="0" i="0" u="none" strike="noStrike" cap="none"/>
            </a:lvl4pPr>
            <a:lvl5pPr marL="0" marR="0" lvl="4" indent="69850" algn="l" rtl="0">
              <a:spcBef>
                <a:spcPts val="0"/>
              </a:spcBef>
              <a:buSzPct val="100000"/>
              <a:buFont typeface="Arial"/>
              <a:buChar char="○"/>
              <a:defRPr sz="1100" b="0" i="0" u="none" strike="noStrike" cap="none"/>
            </a:lvl5pPr>
            <a:lvl6pPr marL="0" marR="0" lvl="5" indent="69850" algn="l" rtl="0">
              <a:spcBef>
                <a:spcPts val="0"/>
              </a:spcBef>
              <a:buSzPct val="100000"/>
              <a:buFont typeface="Arial"/>
              <a:buChar char="■"/>
              <a:defRPr sz="1100" b="0" i="0" u="none" strike="noStrike" cap="none"/>
            </a:lvl6pPr>
            <a:lvl7pPr marL="0" marR="0" lvl="6" indent="69850" algn="l" rtl="0">
              <a:spcBef>
                <a:spcPts val="0"/>
              </a:spcBef>
              <a:buSzPct val="100000"/>
              <a:buFont typeface="Arial"/>
              <a:buChar char="●"/>
              <a:defRPr sz="1100" b="0" i="0" u="none" strike="noStrike" cap="none"/>
            </a:lvl7pPr>
            <a:lvl8pPr marL="0" marR="0" lvl="7" indent="69850" algn="l" rtl="0">
              <a:spcBef>
                <a:spcPts val="0"/>
              </a:spcBef>
              <a:buSzPct val="100000"/>
              <a:buFont typeface="Arial"/>
              <a:buChar char="○"/>
              <a:defRPr sz="1100" b="0" i="0" u="none" strike="noStrike" cap="none"/>
            </a:lvl8pPr>
            <a:lvl9pPr marL="0" marR="0" lvl="8" indent="69850" algn="l" rtl="0">
              <a:spcBef>
                <a:spcPts val="0"/>
              </a:spcBef>
              <a:buSzPct val="100000"/>
              <a:buFont typeface="Arial"/>
              <a:buChar char="■"/>
              <a:defRPr sz="11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895097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1143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76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1143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1143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889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889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889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889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889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889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889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8890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1143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fld id="{00000000-1234-1234-1234-123412341234}" type="slidenum">
              <a:rPr lang="en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0" y="1577425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buSzPct val="25000"/>
            </a:pPr>
            <a:r>
              <a:rPr lang="en-US" sz="3600" dirty="0"/>
              <a:t>Non-parametric multi-dimensional density estimation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Shape 55"/>
          <p:cNvSpPr txBox="1">
            <a:spLocks noGrp="1"/>
          </p:cNvSpPr>
          <p:nvPr>
            <p:ph type="subTitle" idx="1"/>
          </p:nvPr>
        </p:nvSpPr>
        <p:spPr>
          <a:xfrm>
            <a:off x="311700" y="3313600"/>
            <a:ext cx="8520600" cy="10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ru-RU" dirty="0" smtClean="0"/>
              <a:t>Харитонов</a:t>
            </a:r>
            <a:r>
              <a:rPr lang="en" sz="2800" b="0" i="0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dirty="0"/>
              <a:t>Е</a:t>
            </a:r>
            <a:r>
              <a:rPr lang="en" sz="2800" b="0" i="0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dirty="0"/>
              <a:t>А</a:t>
            </a:r>
            <a:r>
              <a:rPr lang="en" sz="2800" b="0" i="0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., </a:t>
            </a:r>
            <a:r>
              <a:rPr lang="ru-RU" dirty="0" smtClean="0"/>
              <a:t>М16-524</a:t>
            </a:r>
            <a:endParaRPr lang="en" sz="2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Вариант </a:t>
            </a:r>
            <a:r>
              <a:rPr lang="en-US" dirty="0"/>
              <a:t>2</a:t>
            </a:r>
            <a:r>
              <a:rPr lang="ru-RU" sz="2800" b="0" i="0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-09</a:t>
            </a:r>
            <a:endParaRPr lang="en" sz="2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510450" y="4686374"/>
            <a:ext cx="8123100" cy="385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</a:p>
        </p:txBody>
      </p:sp>
      <p:cxnSp>
        <p:nvCxnSpPr>
          <p:cNvPr id="57" name="Shape 57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8" name="Shape 58" descr="lab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9474" y="47899"/>
            <a:ext cx="1085755" cy="1219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Shape 59" descr="mephi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50" y="95800"/>
            <a:ext cx="1240423" cy="121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Shape 60" descr="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112" y="95800"/>
            <a:ext cx="5235976" cy="8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Shape 61"/>
          <p:cNvSpPr txBox="1">
            <a:spLocks noGrp="1"/>
          </p:cNvSpPr>
          <p:nvPr>
            <p:ph type="subTitle" idx="1"/>
          </p:nvPr>
        </p:nvSpPr>
        <p:spPr>
          <a:xfrm>
            <a:off x="2743825" y="860025"/>
            <a:ext cx="3798900" cy="71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i="0" u="none" strike="noStrike" cap="none">
                <a:solidFill>
                  <a:schemeClr val="dk2"/>
                </a:solidFill>
              </a:rPr>
              <a:t>Курс “Машинное обучение”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/>
              <a:t>Лабораторная работа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Исходные данные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311700" y="1024425"/>
            <a:ext cx="5988492" cy="3544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ru-RU" sz="2000" b="1" dirty="0" smtClean="0"/>
              <a:t>Данные: </a:t>
            </a:r>
            <a:r>
              <a:rPr lang="ru-RU" sz="2000" dirty="0" smtClean="0"/>
              <a:t>сущности, характеризуемые двумя признаками </a:t>
            </a:r>
            <a:r>
              <a:rPr lang="en-US" sz="2000" dirty="0" smtClean="0"/>
              <a:t>x1 </a:t>
            </a:r>
            <a:r>
              <a:rPr lang="ru-RU" sz="2000" dirty="0" smtClean="0"/>
              <a:t>и </a:t>
            </a:r>
            <a:r>
              <a:rPr lang="en-US" sz="2000" dirty="0" smtClean="0"/>
              <a:t>x2</a:t>
            </a:r>
            <a:endParaRPr lang="ru-RU" sz="2000" dirty="0" smtClean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ru-RU" sz="2000" b="1" dirty="0" smtClean="0"/>
              <a:t>Размер выборки: </a:t>
            </a:r>
            <a:r>
              <a:rPr lang="ru-RU" sz="2000" dirty="0" smtClean="0"/>
              <a:t>500</a:t>
            </a:r>
            <a:endParaRPr lang="en-US" sz="2000" dirty="0" smtClean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ru-RU" sz="2000" b="1" dirty="0" smtClean="0"/>
              <a:t>Представление: </a:t>
            </a:r>
            <a:r>
              <a:rPr lang="ru-RU" sz="2000" dirty="0" smtClean="0"/>
              <a:t>данные удобно визуализировать в качестве точек на координатной плоскости с координатами </a:t>
            </a:r>
            <a:r>
              <a:rPr lang="en-US" sz="2000" dirty="0" smtClean="0"/>
              <a:t>(x1,x2)</a:t>
            </a:r>
            <a:endParaRPr lang="ru-RU" sz="2000" b="1" dirty="0" smtClean="0"/>
          </a:p>
        </p:txBody>
      </p:sp>
      <p:pic>
        <p:nvPicPr>
          <p:cNvPr id="4098" name="Picture 2" descr="D:\Users\Kharitonov_E\Dropbox\MEPhI\3M_Maching_learning\lab1\data11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4204" b="-4924"/>
          <a:stretch/>
        </p:blipFill>
        <p:spPr bwMode="auto">
          <a:xfrm>
            <a:off x="7164288" y="905270"/>
            <a:ext cx="1324000" cy="34754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67"/>
          <p:cNvSpPr txBox="1">
            <a:spLocks/>
          </p:cNvSpPr>
          <p:nvPr/>
        </p:nvSpPr>
        <p:spPr>
          <a:xfrm>
            <a:off x="6782172" y="4306019"/>
            <a:ext cx="2088232" cy="360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1143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889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ctr">
              <a:spcAft>
                <a:spcPts val="0"/>
              </a:spcAft>
              <a:buSzPct val="25000"/>
              <a:buFont typeface="Arial"/>
              <a:buNone/>
            </a:pPr>
            <a:r>
              <a:rPr lang="ru-RU" sz="1100" dirty="0" smtClean="0"/>
              <a:t>Рисунок 0</a:t>
            </a:r>
            <a:r>
              <a:rPr lang="en" sz="1100" dirty="0" smtClean="0"/>
              <a:t>. </a:t>
            </a:r>
            <a:r>
              <a:rPr lang="ru-RU" sz="1100" dirty="0" smtClean="0"/>
              <a:t>Пример исходных данных</a:t>
            </a:r>
            <a:endParaRPr lang="en" sz="1100" dirty="0"/>
          </a:p>
        </p:txBody>
      </p:sp>
    </p:spTree>
    <p:extLst>
      <p:ext uri="{BB962C8B-B14F-4D97-AF65-F5344CB8AC3E}">
        <p14:creationId xmlns:p14="http://schemas.microsoft.com/office/powerpoint/2010/main" val="191963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91680" y="1059582"/>
            <a:ext cx="136815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126866" y="995958"/>
            <a:ext cx="136815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026" name="Picture 2" descr="D:\Users\Kharitonov_E\Dropbox\MEPhI\3M_Maching_learning\lab2\plots\task0_visua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189" y="411510"/>
            <a:ext cx="5375624" cy="403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Визуализация данных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1547665" y="4246983"/>
            <a:ext cx="5648148" cy="629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sz="1600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sz="1600" b="0" i="0" u="none" strike="noStrike" cap="none" dirty="0" smtClean="0">
                <a:solidFill>
                  <a:schemeClr val="dk2"/>
                </a:solidFill>
                <a:sym typeface="Arial"/>
              </a:rPr>
              <a:t> 1. </a:t>
            </a:r>
            <a:r>
              <a:rPr lang="ru-RU" sz="1600" dirty="0" smtClean="0"/>
              <a:t>Визуализация исходных данных в виде точек на координатной плоскости</a:t>
            </a:r>
            <a:endParaRPr lang="en" sz="1600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627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D:\Users\Kharitonov_E\Dropbox\MEPhI\3M_Maching_learning\lab2\plots\task1_silver_contou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063" y="2906958"/>
            <a:ext cx="2988592" cy="224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Users\Kharitonov_E\Dropbox\MEPhI\3M_Maching_learning\lab2\plots\task1_silver_surfac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55526"/>
            <a:ext cx="3456384" cy="259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:\Users\Kharitonov_E\Dropbox\MEPhI\3M_Maching_learning\lab2\plots\task0_visual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843558"/>
            <a:ext cx="4319699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1622748" y="1037878"/>
            <a:ext cx="136815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7227" y="1685814"/>
            <a:ext cx="432048" cy="394320"/>
          </a:xfrm>
          <a:prstGeom prst="rect">
            <a:avLst/>
          </a:prstGeom>
          <a:solidFill>
            <a:srgbClr val="C7C7C7">
              <a:alpha val="23922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трелка вправо 3"/>
          <p:cNvSpPr/>
          <p:nvPr/>
        </p:nvSpPr>
        <p:spPr>
          <a:xfrm>
            <a:off x="4067944" y="2787774"/>
            <a:ext cx="720080" cy="216024"/>
          </a:xfrm>
          <a:prstGeom prst="rightArrow">
            <a:avLst/>
          </a:prstGeom>
          <a:solidFill>
            <a:srgbClr val="00B0F0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5868144" y="771550"/>
            <a:ext cx="136815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2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Восстановление плотности распределения</a:t>
            </a:r>
            <a:endParaRPr lang="en"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729396" y="1098290"/>
            <a:ext cx="340392" cy="307777"/>
            <a:chOff x="899592" y="1347614"/>
            <a:chExt cx="340392" cy="307777"/>
          </a:xfrm>
        </p:grpSpPr>
        <p:sp>
          <p:nvSpPr>
            <p:cNvPr id="5" name="TextBox 4"/>
            <p:cNvSpPr txBox="1"/>
            <p:nvPr/>
          </p:nvSpPr>
          <p:spPr>
            <a:xfrm>
              <a:off x="899592" y="134761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</a:t>
              </a:r>
              <a:endParaRPr lang="ru-RU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9710" y="1424559"/>
              <a:ext cx="2302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smtClean="0"/>
                <a:t>x1</a:t>
              </a:r>
              <a:endParaRPr lang="ru-RU" sz="900" dirty="0"/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1206136" y="1327635"/>
            <a:ext cx="416612" cy="307777"/>
            <a:chOff x="899592" y="1347614"/>
            <a:chExt cx="416612" cy="307777"/>
          </a:xfrm>
        </p:grpSpPr>
        <p:sp>
          <p:nvSpPr>
            <p:cNvPr id="19" name="TextBox 18"/>
            <p:cNvSpPr txBox="1"/>
            <p:nvPr/>
          </p:nvSpPr>
          <p:spPr>
            <a:xfrm>
              <a:off x="899592" y="134761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</a:t>
              </a:r>
              <a:endParaRPr lang="ru-RU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09710" y="1424559"/>
              <a:ext cx="306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smtClean="0"/>
                <a:t>x2</a:t>
              </a:r>
              <a:endParaRPr lang="ru-RU" sz="900" dirty="0"/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 flipH="1">
            <a:off x="803251" y="1342607"/>
            <a:ext cx="96365" cy="315654"/>
          </a:xfrm>
          <a:prstGeom prst="straightConnector1">
            <a:avLst/>
          </a:prstGeom>
          <a:ln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flipH="1">
            <a:off x="1041692" y="1598885"/>
            <a:ext cx="328887" cy="247562"/>
          </a:xfrm>
          <a:prstGeom prst="straightConnector1">
            <a:avLst/>
          </a:prstGeom>
          <a:ln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44" y="4057253"/>
            <a:ext cx="2327089" cy="715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1763688" y="883989"/>
            <a:ext cx="2146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(на примере </a:t>
            </a:r>
            <a:r>
              <a:rPr lang="en-US" dirty="0" smtClean="0"/>
              <a:t>box kernel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269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0 L 0.25 0.0780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0.07809 L -1.38889E-6 0.0780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Users\Kharitonov_E\Dropbox\MEPhI\3M_Maching_learning\lab2\plots\task1_small_surface_fi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8" r="22065"/>
          <a:stretch/>
        </p:blipFill>
        <p:spPr bwMode="auto">
          <a:xfrm>
            <a:off x="-35476" y="534116"/>
            <a:ext cx="3023300" cy="366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Users\Kharitonov_E\Dropbox\MEPhI\3M_Maching_learning\lab2\plots\task1_silver_surface_fix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1" r="22126"/>
          <a:stretch/>
        </p:blipFill>
        <p:spPr bwMode="auto">
          <a:xfrm>
            <a:off x="2979618" y="411510"/>
            <a:ext cx="3105420" cy="377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Users\Kharitonov_E\Dropbox\MEPhI\3M_Maching_learning\lab2\plots\task1_big_surface_fix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2" r="15480"/>
          <a:stretch/>
        </p:blipFill>
        <p:spPr bwMode="auto">
          <a:xfrm>
            <a:off x="6033210" y="511817"/>
            <a:ext cx="3087723" cy="341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Ширина окна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hape 67"/>
          <p:cNvSpPr txBox="1">
            <a:spLocks noGrp="1"/>
          </p:cNvSpPr>
          <p:nvPr>
            <p:ph type="body" idx="1"/>
          </p:nvPr>
        </p:nvSpPr>
        <p:spPr>
          <a:xfrm>
            <a:off x="251520" y="3939903"/>
            <a:ext cx="8280920" cy="9361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2-4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dirty="0" smtClean="0"/>
              <a:t>Восстановленная плотность распределения с различными размерами окна. Слева </a:t>
            </a:r>
            <a:r>
              <a:rPr lang="en-US" dirty="0" smtClean="0"/>
              <a:t>- </a:t>
            </a:r>
            <a:r>
              <a:rPr lang="ru-RU" dirty="0" smtClean="0"/>
              <a:t>0</a:t>
            </a:r>
            <a:r>
              <a:rPr lang="en-US" dirty="0" smtClean="0"/>
              <a:t>.15, 0.15 (</a:t>
            </a:r>
            <a:r>
              <a:rPr lang="ru-RU" dirty="0" smtClean="0"/>
              <a:t>слишком узкое</a:t>
            </a:r>
            <a:r>
              <a:rPr lang="en-US" dirty="0" smtClean="0"/>
              <a:t>)</a:t>
            </a:r>
            <a:r>
              <a:rPr lang="ru-RU" dirty="0" smtClean="0"/>
              <a:t>, в центре – </a:t>
            </a:r>
            <a:r>
              <a:rPr lang="en-US" dirty="0" smtClean="0"/>
              <a:t>0.69, 0.50 (</a:t>
            </a:r>
            <a:r>
              <a:rPr lang="ru-RU" dirty="0" smtClean="0"/>
              <a:t>по Сильверману</a:t>
            </a:r>
            <a:r>
              <a:rPr lang="en-US" dirty="0" smtClean="0"/>
              <a:t>), </a:t>
            </a:r>
            <a:r>
              <a:rPr lang="ru-RU" dirty="0" smtClean="0"/>
              <a:t>справа – 5.0, 5.0 (слишком широкое). 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143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Ширина окна (правило Сильвермана)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55917"/>
            <a:ext cx="4690864" cy="91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9" y="2327041"/>
            <a:ext cx="2369244" cy="531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5536" y="1951689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 smtClean="0">
                <a:latin typeface="+mn-lt"/>
              </a:rPr>
              <a:t>где</a:t>
            </a:r>
            <a:endParaRPr lang="ru-RU" sz="18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946067" y="2427734"/>
            <a:ext cx="2509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+mn-lt"/>
              </a:rPr>
              <a:t>(</a:t>
            </a:r>
            <a:r>
              <a:rPr lang="en-US" sz="1800" dirty="0" smtClean="0">
                <a:latin typeface="+mn-lt"/>
              </a:rPr>
              <a:t>interquartile range)</a:t>
            </a:r>
            <a:endParaRPr lang="ru-RU" sz="1800" dirty="0">
              <a:latin typeface="+mn-lt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77888" y="2883411"/>
            <a:ext cx="2509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latin typeface="+mn-lt"/>
              </a:rPr>
              <a:t>n – </a:t>
            </a:r>
            <a:r>
              <a:rPr lang="ru-RU" sz="1800" dirty="0" smtClean="0">
                <a:latin typeface="+mn-lt"/>
              </a:rPr>
              <a:t>размер выборки</a:t>
            </a:r>
            <a:endParaRPr lang="en-US" sz="1800" dirty="0" smtClean="0">
              <a:latin typeface="+mn-lt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23" y="3206576"/>
            <a:ext cx="337259" cy="43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Прямоугольник 13"/>
          <p:cNvSpPr/>
          <p:nvPr/>
        </p:nvSpPr>
        <p:spPr>
          <a:xfrm>
            <a:off x="661795" y="3308761"/>
            <a:ext cx="44966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latin typeface="+mn-lt"/>
              </a:rPr>
              <a:t>– </a:t>
            </a:r>
            <a:r>
              <a:rPr lang="ru-RU" sz="1800" dirty="0" smtClean="0">
                <a:latin typeface="+mn-lt"/>
              </a:rPr>
              <a:t>среднеквадратическое отклонение</a:t>
            </a:r>
            <a:endParaRPr lang="en-US" sz="18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16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107504" y="4227934"/>
            <a:ext cx="8934276" cy="8028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5,6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Диаграммы поверхности и контуров в</a:t>
            </a:r>
            <a:r>
              <a:rPr lang="ru-RU" dirty="0" smtClean="0"/>
              <a:t>осстановленной плотности распределения со слишком узким размером окна </a:t>
            </a:r>
            <a:r>
              <a:rPr lang="en-US" dirty="0" smtClean="0"/>
              <a:t>– </a:t>
            </a:r>
            <a:r>
              <a:rPr lang="ru-RU" dirty="0" smtClean="0"/>
              <a:t>(0</a:t>
            </a:r>
            <a:r>
              <a:rPr lang="en-US" dirty="0" smtClean="0"/>
              <a:t>.15, 0.15</a:t>
            </a:r>
            <a:r>
              <a:rPr lang="ru-RU" dirty="0" smtClean="0"/>
              <a:t>)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pic>
        <p:nvPicPr>
          <p:cNvPr id="4102" name="Picture 6" descr="D:\Users\Kharitonov_E\Dropbox\MEPhI\3M_Maching_learning\lab2\plots\task1_small_surfac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1" t="16587" r="8792" b="9318"/>
          <a:stretch/>
        </p:blipFill>
        <p:spPr bwMode="auto">
          <a:xfrm>
            <a:off x="134481" y="877454"/>
            <a:ext cx="4509527" cy="344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Ширина окна (слишком узкое)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3" name="Picture 7" descr="D:\Users\Kharitonov_E\Dropbox\MEPhI\3M_Maching_learning\lab2\plots\task1_small_contour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" t="11084" r="9685" b="2403"/>
          <a:stretch/>
        </p:blipFill>
        <p:spPr bwMode="auto">
          <a:xfrm>
            <a:off x="4609845" y="932879"/>
            <a:ext cx="4426651" cy="333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57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0" y="4227934"/>
            <a:ext cx="9144000" cy="7920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7,8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Диаграммы поверхности и контуров в</a:t>
            </a:r>
            <a:r>
              <a:rPr lang="ru-RU" dirty="0" smtClean="0"/>
              <a:t>осстановленной плотности распределения с размером окна по правилу Сильвермана </a:t>
            </a:r>
            <a:r>
              <a:rPr lang="en-US" dirty="0" smtClean="0"/>
              <a:t>– </a:t>
            </a:r>
            <a:r>
              <a:rPr lang="ru-RU" dirty="0" smtClean="0"/>
              <a:t>(0</a:t>
            </a:r>
            <a:r>
              <a:rPr lang="en-US" dirty="0" smtClean="0"/>
              <a:t>.</a:t>
            </a:r>
            <a:r>
              <a:rPr lang="ru-RU" dirty="0" smtClean="0"/>
              <a:t>69</a:t>
            </a:r>
            <a:r>
              <a:rPr lang="en-US" dirty="0" smtClean="0"/>
              <a:t>, 0.</a:t>
            </a:r>
            <a:r>
              <a:rPr lang="ru-RU" dirty="0" smtClean="0"/>
              <a:t>50)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pic>
        <p:nvPicPr>
          <p:cNvPr id="18" name="Picture 4" descr="D:\Users\Kharitonov_E\Dropbox\MEPhI\3M_Maching_learning\lab2\plots\task1_silver_surfac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0" t="16911" r="9269" b="8340"/>
          <a:stretch/>
        </p:blipFill>
        <p:spPr bwMode="auto">
          <a:xfrm>
            <a:off x="35496" y="883868"/>
            <a:ext cx="4401698" cy="341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" descr="D:\Users\Kharitonov_E\Dropbox\MEPhI\3M_Maching_learning\lab2\plots\task1_silver_contour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" t="10777" r="9195" b="2219"/>
          <a:stretch/>
        </p:blipFill>
        <p:spPr bwMode="auto">
          <a:xfrm>
            <a:off x="4531250" y="857305"/>
            <a:ext cx="4577254" cy="344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Ширина окна (правило Сильвермана)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034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0" y="4227934"/>
            <a:ext cx="9144000" cy="7920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9,10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Диаграммы поверхности и контуров в</a:t>
            </a:r>
            <a:r>
              <a:rPr lang="ru-RU" dirty="0" smtClean="0"/>
              <a:t>осстановленной плотности распределения со слишком широким размером окна </a:t>
            </a:r>
            <a:r>
              <a:rPr lang="en-US" dirty="0" smtClean="0"/>
              <a:t>– </a:t>
            </a:r>
            <a:r>
              <a:rPr lang="ru-RU" dirty="0" smtClean="0"/>
              <a:t>(5</a:t>
            </a:r>
            <a:r>
              <a:rPr lang="en-US" dirty="0" smtClean="0"/>
              <a:t>.</a:t>
            </a:r>
            <a:r>
              <a:rPr lang="ru-RU" dirty="0" smtClean="0"/>
              <a:t>0</a:t>
            </a:r>
            <a:r>
              <a:rPr lang="en-US" dirty="0" smtClean="0"/>
              <a:t>, </a:t>
            </a:r>
            <a:r>
              <a:rPr lang="ru-RU" dirty="0"/>
              <a:t>5</a:t>
            </a:r>
            <a:r>
              <a:rPr lang="en-US" dirty="0" smtClean="0"/>
              <a:t>.</a:t>
            </a:r>
            <a:r>
              <a:rPr lang="ru-RU" dirty="0" smtClean="0"/>
              <a:t>0)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Ширина окна (слишком широкое)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6" name="Picture 2" descr="D:\Users\Kharitonov_E\Dropbox\MEPhI\3M_Maching_learning\lab2\plots\task1_big_surfac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4" t="17317" r="7559" b="9061"/>
          <a:stretch/>
        </p:blipFill>
        <p:spPr bwMode="auto">
          <a:xfrm>
            <a:off x="229414" y="857305"/>
            <a:ext cx="4301836" cy="323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D:\Users\Kharitonov_E\Dropbox\MEPhI\3M_Maching_learning\lab2\plots\task1_big_contour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1" t="11142" r="9503" b="1980"/>
          <a:stretch/>
        </p:blipFill>
        <p:spPr bwMode="auto">
          <a:xfrm>
            <a:off x="4513040" y="840990"/>
            <a:ext cx="4602747" cy="357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65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SzPct val="25000"/>
            </a:pPr>
            <a:r>
              <a:rPr lang="ru-RU" sz="3600" dirty="0"/>
              <a:t>Выбор функции ядра </a:t>
            </a:r>
            <a:r>
              <a:rPr lang="en-US" sz="3600" dirty="0"/>
              <a:t>(kernel)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8" y="1274232"/>
            <a:ext cx="4413111" cy="3151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987574"/>
            <a:ext cx="4361173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079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107504" y="4342234"/>
            <a:ext cx="8856984" cy="7920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en-US" dirty="0" smtClean="0"/>
              <a:t>10</a:t>
            </a:r>
            <a:r>
              <a:rPr lang="ru-RU" dirty="0" smtClean="0"/>
              <a:t>,11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dirty="0" smtClean="0"/>
              <a:t>Плотности распределения восстановленные с помощью ядер </a:t>
            </a:r>
            <a:r>
              <a:rPr lang="en-US" dirty="0"/>
              <a:t>B</a:t>
            </a:r>
            <a:r>
              <a:rPr lang="en-US" dirty="0" smtClean="0"/>
              <a:t>ox kernel (</a:t>
            </a:r>
            <a:r>
              <a:rPr lang="ru-RU" dirty="0" smtClean="0"/>
              <a:t>слева</a:t>
            </a:r>
            <a:r>
              <a:rPr lang="en-US" dirty="0" smtClean="0"/>
              <a:t>) </a:t>
            </a:r>
            <a:r>
              <a:rPr lang="ru-RU" dirty="0" smtClean="0"/>
              <a:t>и</a:t>
            </a:r>
            <a:r>
              <a:rPr lang="en-US" dirty="0" smtClean="0"/>
              <a:t> Gaussian kernel (</a:t>
            </a:r>
            <a:r>
              <a:rPr lang="ru-RU" dirty="0" smtClean="0"/>
              <a:t>справа</a:t>
            </a:r>
            <a:r>
              <a:rPr lang="en-US" dirty="0" smtClean="0"/>
              <a:t>).</a:t>
            </a:r>
            <a:r>
              <a:rPr lang="ru-RU" dirty="0" smtClean="0"/>
              <a:t> Ширина окна по Сильверману.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107504" y="-9254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dirty="0" smtClean="0"/>
              <a:t>Выбор функции ядра </a:t>
            </a:r>
            <a:r>
              <a:rPr lang="en-US" sz="3600" dirty="0" smtClean="0"/>
              <a:t>(kernel)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D:\Users\Kharitonov_E\Dropbox\MEPhI\3M_Maching_learning\lab2\plots\task2_box_surface_fi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3" t="12825" r="22641" b="8108"/>
          <a:stretch/>
        </p:blipFill>
        <p:spPr bwMode="auto">
          <a:xfrm>
            <a:off x="467544" y="479681"/>
            <a:ext cx="3868963" cy="389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:\Users\Kharitonov_E\Dropbox\MEPhI\3M_Maching_learning\lab2\plots\task2_gaus_surface_fix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1" t="13276" r="22653" b="8841"/>
          <a:stretch/>
        </p:blipFill>
        <p:spPr bwMode="auto">
          <a:xfrm>
            <a:off x="4817462" y="501191"/>
            <a:ext cx="3858994" cy="387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50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107504" y="-9254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dirty="0" smtClean="0"/>
              <a:t>Выбор функции ядра </a:t>
            </a:r>
            <a:r>
              <a:rPr lang="en-US" sz="3600" dirty="0" smtClean="0"/>
              <a:t>(kernel)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 descr="D:\Users\Kharitonov_E\Dropbox\MEPhI\3M_Maching_learning\lab2\plots\task2_epan_surfac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6" t="13060" r="22660" b="8584"/>
          <a:stretch/>
        </p:blipFill>
        <p:spPr bwMode="auto">
          <a:xfrm>
            <a:off x="4788024" y="511679"/>
            <a:ext cx="3848024" cy="382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Users\Kharitonov_E\Dropbox\MEPhI\3M_Maching_learning\lab2\plots\task2_trian_surface_fix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9" t="12830" r="22483" b="8341"/>
          <a:stretch/>
        </p:blipFill>
        <p:spPr bwMode="auto">
          <a:xfrm>
            <a:off x="467545" y="528090"/>
            <a:ext cx="3816423" cy="379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107504" y="4083918"/>
            <a:ext cx="8856984" cy="9063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en-US" dirty="0" smtClean="0"/>
              <a:t>1</a:t>
            </a:r>
            <a:r>
              <a:rPr lang="ru-RU" dirty="0" smtClean="0"/>
              <a:t>2,13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dirty="0" smtClean="0"/>
              <a:t>Плотности распределения восстановленные с помощью ядер </a:t>
            </a:r>
            <a:r>
              <a:rPr lang="en-US" dirty="0" smtClean="0"/>
              <a:t>Triangular kernel (</a:t>
            </a:r>
            <a:r>
              <a:rPr lang="ru-RU" dirty="0" smtClean="0"/>
              <a:t>слева</a:t>
            </a:r>
            <a:r>
              <a:rPr lang="en-US" dirty="0" smtClean="0"/>
              <a:t>) </a:t>
            </a:r>
            <a:r>
              <a:rPr lang="ru-RU" dirty="0" smtClean="0"/>
              <a:t>и</a:t>
            </a:r>
            <a:r>
              <a:rPr lang="en-US" dirty="0" smtClean="0"/>
              <a:t> Epanechnikov kernel (</a:t>
            </a:r>
            <a:r>
              <a:rPr lang="ru-RU" dirty="0" smtClean="0"/>
              <a:t>справа</a:t>
            </a:r>
            <a:r>
              <a:rPr lang="en-US" dirty="0" smtClean="0"/>
              <a:t>).</a:t>
            </a:r>
            <a:r>
              <a:rPr lang="ru-RU" dirty="0" smtClean="0"/>
              <a:t> Ширина окна по Сильверману.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191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0" y="4227934"/>
            <a:ext cx="9144000" cy="7920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en-US" dirty="0" smtClean="0"/>
              <a:t>14</a:t>
            </a:r>
            <a:r>
              <a:rPr lang="ru-RU" dirty="0" smtClean="0"/>
              <a:t>,1</a:t>
            </a:r>
            <a:r>
              <a:rPr lang="en-US" dirty="0" smtClean="0"/>
              <a:t>5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Диаграммы поверхности и контуров </a:t>
            </a:r>
            <a:r>
              <a:rPr lang="ru-RU" dirty="0"/>
              <a:t>плотности </a:t>
            </a:r>
            <a:r>
              <a:rPr lang="ru-RU" dirty="0" smtClean="0"/>
              <a:t>распределения</a:t>
            </a:r>
            <a:r>
              <a:rPr lang="en-US" dirty="0" smtClean="0"/>
              <a:t>, </a:t>
            </a:r>
            <a:r>
              <a:rPr lang="ru-RU" dirty="0" smtClean="0"/>
              <a:t>восстановленные </a:t>
            </a:r>
            <a:r>
              <a:rPr lang="ru-RU" dirty="0"/>
              <a:t>с помощью </a:t>
            </a:r>
            <a:r>
              <a:rPr lang="ru-RU" dirty="0" smtClean="0"/>
              <a:t>ядра </a:t>
            </a:r>
            <a:r>
              <a:rPr lang="en-US" dirty="0"/>
              <a:t>Box </a:t>
            </a:r>
            <a:r>
              <a:rPr lang="en-US" dirty="0" smtClean="0"/>
              <a:t>kernel</a:t>
            </a:r>
            <a:r>
              <a:rPr lang="ru-RU" dirty="0" smtClean="0"/>
              <a:t>. Ширина </a:t>
            </a:r>
            <a:r>
              <a:rPr lang="ru-RU" dirty="0"/>
              <a:t>окна по Сильверману.</a:t>
            </a:r>
            <a:endParaRPr lang="en" dirty="0"/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Box kernel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 descr="D:\Users\Kharitonov_E\Dropbox\MEPhI\3M_Maching_learning\lab2\plots\task2_box_surfac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0" t="16844" r="8807" b="8824"/>
          <a:stretch/>
        </p:blipFill>
        <p:spPr bwMode="auto">
          <a:xfrm>
            <a:off x="179512" y="840990"/>
            <a:ext cx="4229100" cy="326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Users\Kharitonov_E\Dropbox\MEPhI\3M_Maching_learning\lab2\plots\task2_box_contour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t="10909" r="9150" b="1739"/>
          <a:stretch/>
        </p:blipFill>
        <p:spPr bwMode="auto">
          <a:xfrm>
            <a:off x="4421576" y="656055"/>
            <a:ext cx="4702906" cy="355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33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0" y="4227934"/>
            <a:ext cx="9144000" cy="7920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en-US" dirty="0" smtClean="0"/>
              <a:t>1</a:t>
            </a:r>
            <a:r>
              <a:rPr lang="ru-RU" dirty="0" smtClean="0"/>
              <a:t>6,17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Диаграммы поверхности и контуров </a:t>
            </a:r>
            <a:r>
              <a:rPr lang="ru-RU" dirty="0"/>
              <a:t>плотности </a:t>
            </a:r>
            <a:r>
              <a:rPr lang="ru-RU" dirty="0" smtClean="0"/>
              <a:t>распределения</a:t>
            </a:r>
            <a:r>
              <a:rPr lang="en-US" dirty="0" smtClean="0"/>
              <a:t>, </a:t>
            </a:r>
            <a:r>
              <a:rPr lang="ru-RU" dirty="0" smtClean="0"/>
              <a:t>восстановленные </a:t>
            </a:r>
            <a:r>
              <a:rPr lang="ru-RU" dirty="0"/>
              <a:t>с помощью </a:t>
            </a:r>
            <a:r>
              <a:rPr lang="ru-RU" dirty="0" smtClean="0"/>
              <a:t>ядра </a:t>
            </a:r>
            <a:r>
              <a:rPr lang="en-US" dirty="0"/>
              <a:t>Gaussian</a:t>
            </a:r>
            <a:r>
              <a:rPr lang="en-US" dirty="0" smtClean="0"/>
              <a:t> kernel</a:t>
            </a:r>
            <a:r>
              <a:rPr lang="ru-RU" dirty="0" smtClean="0"/>
              <a:t>. Ширина </a:t>
            </a:r>
            <a:r>
              <a:rPr lang="ru-RU" dirty="0"/>
              <a:t>окна по Сильверману.</a:t>
            </a:r>
            <a:endParaRPr lang="en" dirty="0"/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SzPct val="25000"/>
            </a:pPr>
            <a:r>
              <a:rPr lang="en-US" sz="3600" dirty="0"/>
              <a:t>Gaussian</a:t>
            </a:r>
            <a:r>
              <a:rPr lang="en-US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kernel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 descr="D:\Users\Kharitonov_E\Dropbox\MEPhI\3M_Maching_learning\lab2\plots\task2_gaus_surfac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3" t="16594" r="8615" b="9074"/>
          <a:stretch/>
        </p:blipFill>
        <p:spPr bwMode="auto">
          <a:xfrm>
            <a:off x="140522" y="949399"/>
            <a:ext cx="4281054" cy="326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D:\Users\Kharitonov_E\Dropbox\MEPhI\3M_Maching_learning\lab2\plots\task2_gaus_contour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" t="10695" r="9328" b="1716"/>
          <a:stretch/>
        </p:blipFill>
        <p:spPr bwMode="auto">
          <a:xfrm>
            <a:off x="4511845" y="798358"/>
            <a:ext cx="4609041" cy="351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86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0" y="4227934"/>
            <a:ext cx="9144000" cy="7920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en-US" dirty="0" smtClean="0"/>
              <a:t>1</a:t>
            </a:r>
            <a:r>
              <a:rPr lang="ru-RU" dirty="0" smtClean="0"/>
              <a:t>8,19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Диаграммы поверхности и контуров </a:t>
            </a:r>
            <a:r>
              <a:rPr lang="ru-RU" dirty="0"/>
              <a:t>плотности </a:t>
            </a:r>
            <a:r>
              <a:rPr lang="ru-RU" dirty="0" smtClean="0"/>
              <a:t>распределения</a:t>
            </a:r>
            <a:r>
              <a:rPr lang="en-US" dirty="0" smtClean="0"/>
              <a:t>, </a:t>
            </a:r>
            <a:r>
              <a:rPr lang="ru-RU" dirty="0" smtClean="0"/>
              <a:t>восстановленные </a:t>
            </a:r>
            <a:r>
              <a:rPr lang="ru-RU" dirty="0"/>
              <a:t>с помощью </a:t>
            </a:r>
            <a:r>
              <a:rPr lang="ru-RU" dirty="0" smtClean="0"/>
              <a:t>ядра </a:t>
            </a:r>
            <a:r>
              <a:rPr lang="en-US" dirty="0"/>
              <a:t>Triangular</a:t>
            </a:r>
            <a:r>
              <a:rPr lang="en-US" dirty="0" smtClean="0"/>
              <a:t> kernel</a:t>
            </a:r>
            <a:r>
              <a:rPr lang="ru-RU" dirty="0" smtClean="0"/>
              <a:t>. Ширина </a:t>
            </a:r>
            <a:r>
              <a:rPr lang="ru-RU" dirty="0"/>
              <a:t>окна по Сильверману.</a:t>
            </a:r>
            <a:endParaRPr lang="en" dirty="0"/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SzPct val="25000"/>
            </a:pPr>
            <a:r>
              <a:rPr lang="en-US" sz="3600" dirty="0"/>
              <a:t>Triangular</a:t>
            </a:r>
            <a:r>
              <a:rPr lang="en-US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kernel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8" name="Picture 4" descr="D:\Users\Kharitonov_E\Dropbox\MEPhI\3M_Maching_learning\lab2\plots\task2_trian_surfac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9" t="17081" r="8807" b="9061"/>
          <a:stretch/>
        </p:blipFill>
        <p:spPr bwMode="auto">
          <a:xfrm>
            <a:off x="107504" y="987574"/>
            <a:ext cx="4229101" cy="324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D:\Users\Kharitonov_E\Dropbox\MEPhI\3M_Maching_learning\lab2\plots\task2_trian_contour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1" t="11396" r="8992" b="1736"/>
          <a:stretch/>
        </p:blipFill>
        <p:spPr bwMode="auto">
          <a:xfrm>
            <a:off x="4499992" y="974367"/>
            <a:ext cx="4311337" cy="324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55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0" y="4227934"/>
            <a:ext cx="9144000" cy="7920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sz="1700" dirty="0" smtClean="0"/>
              <a:t>20, 21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Диаграммы поверхности и контуров </a:t>
            </a:r>
            <a:r>
              <a:rPr lang="ru-RU" sz="1700" dirty="0"/>
              <a:t>плотности </a:t>
            </a:r>
            <a:r>
              <a:rPr lang="ru-RU" sz="1700" dirty="0" smtClean="0"/>
              <a:t>распределения</a:t>
            </a:r>
            <a:r>
              <a:rPr lang="en-US" sz="1700" dirty="0" smtClean="0"/>
              <a:t>, </a:t>
            </a:r>
            <a:r>
              <a:rPr lang="ru-RU" sz="1700" dirty="0" smtClean="0"/>
              <a:t>восстановленные </a:t>
            </a:r>
            <a:r>
              <a:rPr lang="ru-RU" sz="1700" dirty="0"/>
              <a:t>с помощью </a:t>
            </a:r>
            <a:r>
              <a:rPr lang="ru-RU" sz="1700" dirty="0" smtClean="0"/>
              <a:t>ядра </a:t>
            </a:r>
            <a:r>
              <a:rPr lang="en-US" sz="1700" dirty="0"/>
              <a:t>Epanechnikov</a:t>
            </a:r>
            <a:r>
              <a:rPr lang="en-US" sz="1700" dirty="0" smtClean="0"/>
              <a:t> kernel</a:t>
            </a:r>
            <a:r>
              <a:rPr lang="ru-RU" sz="1700" dirty="0" smtClean="0"/>
              <a:t>. Ширина </a:t>
            </a:r>
            <a:r>
              <a:rPr lang="ru-RU" sz="1700" dirty="0"/>
              <a:t>окна по Сильверману.</a:t>
            </a:r>
            <a:endParaRPr lang="en" sz="1700" dirty="0"/>
          </a:p>
        </p:txBody>
      </p:sp>
      <p:pic>
        <p:nvPicPr>
          <p:cNvPr id="6146" name="Picture 2" descr="D:\Users\Kharitonov_E\Dropbox\MEPhI\3M_Maching_learning\lab2\plots\task2_epan_surfac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6" t="16837" r="9344" b="9305"/>
          <a:stretch/>
        </p:blipFill>
        <p:spPr bwMode="auto">
          <a:xfrm>
            <a:off x="26415" y="935463"/>
            <a:ext cx="4291446" cy="324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D:\Users\Kharitonov_E\Dropbox\MEPhI\3M_Maching_learning\lab2\plots\task2_epan_contour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2" t="10927" r="9510" b="1956"/>
          <a:stretch/>
        </p:blipFill>
        <p:spPr bwMode="auto">
          <a:xfrm>
            <a:off x="4499992" y="781407"/>
            <a:ext cx="4570396" cy="344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SzPct val="25000"/>
            </a:pPr>
            <a:r>
              <a:rPr lang="en-US" sz="3600" dirty="0"/>
              <a:t>Epanechnikov</a:t>
            </a:r>
            <a:r>
              <a:rPr lang="en-US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kernel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416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0" y="4011910"/>
            <a:ext cx="9144000" cy="7920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sz="1700" dirty="0" smtClean="0"/>
              <a:t>22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Вычисление смещения. Из плотности реального распределения вычитается (в данном случае по модулю) восстановленное распределение.</a:t>
            </a:r>
            <a:endParaRPr lang="en" sz="1700" dirty="0"/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SzPct val="25000"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 смещения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D:\Users\Kharitonov_E\Dropbox\MEPhI\3M_Maching_learning\lab2\plots\task3_bias_silver_surface_fi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0" t="12816" r="22561" b="8591"/>
          <a:stretch/>
        </p:blipFill>
        <p:spPr bwMode="auto">
          <a:xfrm>
            <a:off x="6377414" y="1029983"/>
            <a:ext cx="2731090" cy="26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Users\Kharitonov_E\Dropbox\MEPhI\3M_Maching_learning\lab2\plots\task3_real_fix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8" t="13625" r="22567" b="9440"/>
          <a:stretch/>
        </p:blipFill>
        <p:spPr bwMode="auto">
          <a:xfrm>
            <a:off x="1" y="1101990"/>
            <a:ext cx="2751919" cy="26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Users\Kharitonov_E\Dropbox\MEPhI\3M_Maching_learning\lab2\plots\task3_silver_gaus_fix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t="12563" r="22293" b="8844"/>
          <a:stretch/>
        </p:blipFill>
        <p:spPr bwMode="auto">
          <a:xfrm>
            <a:off x="3131839" y="1059582"/>
            <a:ext cx="2736305" cy="270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Минус 1"/>
          <p:cNvSpPr/>
          <p:nvPr/>
        </p:nvSpPr>
        <p:spPr>
          <a:xfrm>
            <a:off x="2690826" y="2139702"/>
            <a:ext cx="379919" cy="343753"/>
          </a:xfrm>
          <a:prstGeom prst="mathMinus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вно 2"/>
          <p:cNvSpPr/>
          <p:nvPr/>
        </p:nvSpPr>
        <p:spPr>
          <a:xfrm>
            <a:off x="5963396" y="2164094"/>
            <a:ext cx="432048" cy="288032"/>
          </a:xfrm>
          <a:prstGeom prst="mathEqua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" y="987574"/>
            <a:ext cx="2411759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Реальная плотность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923087" y="987574"/>
            <a:ext cx="3017065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Восстановленная плотность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963396" y="963766"/>
            <a:ext cx="3017065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Смещение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22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-13451" y="4157189"/>
            <a:ext cx="9144000" cy="10081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sz="1700" dirty="0" smtClean="0"/>
              <a:t>23-25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Смещения восстановленной плотности распределения </a:t>
            </a:r>
            <a:r>
              <a:rPr lang="ru-RU" sz="1600" dirty="0" smtClean="0"/>
              <a:t>с </a:t>
            </a:r>
            <a:r>
              <a:rPr lang="ru-RU" sz="1600" dirty="0"/>
              <a:t>различными размерами окна. Слева </a:t>
            </a:r>
            <a:r>
              <a:rPr lang="en-US" sz="1600" dirty="0"/>
              <a:t>- </a:t>
            </a:r>
            <a:r>
              <a:rPr lang="ru-RU" sz="1600" dirty="0"/>
              <a:t>0</a:t>
            </a:r>
            <a:r>
              <a:rPr lang="en-US" sz="1600" dirty="0"/>
              <a:t>.15, 0.15 (</a:t>
            </a:r>
            <a:r>
              <a:rPr lang="ru-RU" sz="1600" dirty="0"/>
              <a:t>слишком узкое</a:t>
            </a:r>
            <a:r>
              <a:rPr lang="en-US" sz="1600" dirty="0"/>
              <a:t>)</a:t>
            </a:r>
            <a:r>
              <a:rPr lang="ru-RU" sz="1600" dirty="0"/>
              <a:t>, в центре – </a:t>
            </a:r>
            <a:r>
              <a:rPr lang="en-US" sz="1600" dirty="0"/>
              <a:t>0.69, 0.50 (</a:t>
            </a:r>
            <a:r>
              <a:rPr lang="ru-RU" sz="1600" dirty="0"/>
              <a:t>по Сильверману</a:t>
            </a:r>
            <a:r>
              <a:rPr lang="en-US" sz="1600" dirty="0"/>
              <a:t>), </a:t>
            </a:r>
            <a:r>
              <a:rPr lang="ru-RU" sz="1600" dirty="0"/>
              <a:t>справа – 5.0, 5.0 (слишком широкое</a:t>
            </a:r>
            <a:r>
              <a:rPr lang="ru-RU" sz="1600" dirty="0" smtClean="0"/>
              <a:t>). Диаграммы поверхности. </a:t>
            </a:r>
            <a:endParaRPr lang="en" sz="1600" dirty="0"/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SzPct val="25000"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Смещение при разной ширине окна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D:\Users\Kharitonov_E\Dropbox\MEPhI\3M_Maching_learning\lab2\plots\task3_bias_small_surface_fixb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2" t="11794" r="22941" b="8902"/>
          <a:stretch/>
        </p:blipFill>
        <p:spPr bwMode="auto">
          <a:xfrm>
            <a:off x="244" y="1130717"/>
            <a:ext cx="2987580" cy="295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Users\Kharitonov_E\Dropbox\MEPhI\3M_Maching_learning\lab2\plots\task3_bias_silver_surface_fixb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1" t="11863" r="22481" b="9357"/>
          <a:stretch/>
        </p:blipFill>
        <p:spPr bwMode="auto">
          <a:xfrm>
            <a:off x="3066434" y="1157616"/>
            <a:ext cx="2945726" cy="292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Users\Kharitonov_E\Dropbox\MEPhI\3M_Maching_learning\lab2\plots\task3_bias_big_surface_fixb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5" t="12403" r="22552" b="8294"/>
          <a:stretch/>
        </p:blipFill>
        <p:spPr bwMode="auto">
          <a:xfrm>
            <a:off x="6121167" y="1130716"/>
            <a:ext cx="2987337" cy="295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68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-13451" y="3939902"/>
            <a:ext cx="9144000" cy="10081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Рисунки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sz="1700" dirty="0" smtClean="0"/>
              <a:t>26, 27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Смещения восстановленной плотности распределения </a:t>
            </a:r>
            <a:r>
              <a:rPr lang="ru-RU" sz="1600" dirty="0" smtClean="0"/>
              <a:t>с </a:t>
            </a:r>
            <a:r>
              <a:rPr lang="ru-RU" sz="1600" dirty="0"/>
              <a:t>различными размерами окна. Слева </a:t>
            </a:r>
            <a:r>
              <a:rPr lang="en-US" sz="1600" dirty="0"/>
              <a:t>- </a:t>
            </a:r>
            <a:r>
              <a:rPr lang="ru-RU" sz="1600" dirty="0"/>
              <a:t>0</a:t>
            </a:r>
            <a:r>
              <a:rPr lang="en-US" sz="1600" dirty="0"/>
              <a:t>.15, 0.15 (</a:t>
            </a:r>
            <a:r>
              <a:rPr lang="ru-RU" sz="1600" dirty="0"/>
              <a:t>слишком узкое</a:t>
            </a:r>
            <a:r>
              <a:rPr lang="en-US" sz="1600" dirty="0"/>
              <a:t>)</a:t>
            </a:r>
            <a:r>
              <a:rPr lang="ru-RU" sz="1600" dirty="0"/>
              <a:t>, в центре – </a:t>
            </a:r>
            <a:r>
              <a:rPr lang="en-US" sz="1600" dirty="0"/>
              <a:t>0.69, 0.50 (</a:t>
            </a:r>
            <a:r>
              <a:rPr lang="ru-RU" sz="1600" dirty="0"/>
              <a:t>по Сильверману</a:t>
            </a:r>
            <a:r>
              <a:rPr lang="en-US" sz="1600" dirty="0"/>
              <a:t>), </a:t>
            </a:r>
            <a:r>
              <a:rPr lang="ru-RU" sz="1600" dirty="0"/>
              <a:t>справа – 5.0, 5.0 (слишком широкое). </a:t>
            </a:r>
            <a:r>
              <a:rPr lang="ru-RU" sz="1600" dirty="0" smtClean="0"/>
              <a:t>Диаграммы контуров.</a:t>
            </a:r>
            <a:endParaRPr lang="en" sz="1600" dirty="0"/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SzPct val="25000"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Смещение при разной ширине окна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 descr="D:\Users\Kharitonov_E\Dropbox\MEPhI\3M_Maching_learning\lab2\plots\task3_bias_silver_contou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8" r="9522"/>
          <a:stretch/>
        </p:blipFill>
        <p:spPr bwMode="auto">
          <a:xfrm>
            <a:off x="2976818" y="1203598"/>
            <a:ext cx="3063396" cy="265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Users\Kharitonov_E\Dropbox\MEPhI\3M_Maching_learning\lab2\plots\task3_bias_small_counter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3" r="9118" b="1710"/>
          <a:stretch/>
        </p:blipFill>
        <p:spPr bwMode="auto">
          <a:xfrm>
            <a:off x="34454" y="1203598"/>
            <a:ext cx="2953370" cy="251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Users\Kharitonov_E\Dropbox\MEPhI\3M_Maching_learning\lab2\plots\task3_bias_big_contour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7" t="5244" r="9510" b="2434"/>
          <a:stretch/>
        </p:blipFill>
        <p:spPr bwMode="auto">
          <a:xfrm>
            <a:off x="6040214" y="1347614"/>
            <a:ext cx="3103787" cy="2490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98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7"/>
          <p:cNvSpPr txBox="1">
            <a:spLocks noGrp="1"/>
          </p:cNvSpPr>
          <p:nvPr>
            <p:ph type="body" idx="1"/>
          </p:nvPr>
        </p:nvSpPr>
        <p:spPr>
          <a:xfrm>
            <a:off x="251520" y="4659982"/>
            <a:ext cx="6544852" cy="50405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sz="1700" dirty="0" smtClean="0"/>
              <a:t>28</a:t>
            </a:r>
            <a:r>
              <a:rPr lang="en" sz="1700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sz="1700" b="0" i="0" u="none" strike="noStrike" cap="none" dirty="0" smtClean="0">
                <a:solidFill>
                  <a:schemeClr val="dk2"/>
                </a:solidFill>
                <a:sym typeface="Arial"/>
              </a:rPr>
              <a:t>Визуализация алгоритма вычисления дисперсии.</a:t>
            </a:r>
            <a:endParaRPr lang="en" sz="1700" dirty="0"/>
          </a:p>
        </p:txBody>
      </p:sp>
      <p:sp>
        <p:nvSpPr>
          <p:cNvPr id="20" name="Shape 72"/>
          <p:cNvSpPr txBox="1">
            <a:spLocks noGrp="1"/>
          </p:cNvSpPr>
          <p:nvPr>
            <p:ph type="title"/>
          </p:nvPr>
        </p:nvSpPr>
        <p:spPr>
          <a:xfrm>
            <a:off x="0" y="-8918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SzPct val="25000"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 дисперсии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Picture 2" descr="D:\Users\Kharitonov_E\Dropbox\MEPhI\3M_Maching_learning\lab1\data11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4204" b="-4924"/>
          <a:stretch/>
        </p:blipFill>
        <p:spPr bwMode="auto">
          <a:xfrm>
            <a:off x="179512" y="1328539"/>
            <a:ext cx="1324000" cy="34754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 flipV="1">
            <a:off x="1503512" y="1328539"/>
            <a:ext cx="908248" cy="2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V="1">
            <a:off x="1503512" y="1472555"/>
            <a:ext cx="908248" cy="10081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1503512" y="1616571"/>
            <a:ext cx="908248" cy="18722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1503512" y="1768971"/>
            <a:ext cx="908248" cy="23678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1503512" y="1832595"/>
            <a:ext cx="908248" cy="576064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1503512" y="2273027"/>
            <a:ext cx="908248" cy="20764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4" idx="3"/>
          </p:cNvCxnSpPr>
          <p:nvPr/>
        </p:nvCxnSpPr>
        <p:spPr>
          <a:xfrm flipV="1">
            <a:off x="1503512" y="2561059"/>
            <a:ext cx="908248" cy="50521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V="1">
            <a:off x="1503512" y="2696691"/>
            <a:ext cx="908248" cy="100811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1503512" y="1616571"/>
            <a:ext cx="908248" cy="2088232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>
            <a:off x="1503512" y="2660687"/>
            <a:ext cx="836240" cy="1044116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 flipV="1">
            <a:off x="1503512" y="4064843"/>
            <a:ext cx="908248" cy="288032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/>
          <p:nvPr/>
        </p:nvCxnSpPr>
        <p:spPr>
          <a:xfrm flipV="1">
            <a:off x="1503512" y="3920827"/>
            <a:ext cx="836240" cy="144016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3" descr="D:\Users\Kharitonov_E\Dropbox\MEPhI\3M_Maching_learning\lab2\plots\task3_real_fix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8" t="17705" r="22567" b="9440"/>
          <a:stretch/>
        </p:blipFill>
        <p:spPr bwMode="auto">
          <a:xfrm>
            <a:off x="4211960" y="865512"/>
            <a:ext cx="1296144" cy="120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3" descr="D:\Users\Kharitonov_E\Dropbox\MEPhI\3M_Maching_learning\lab2\plots\task3_real_fix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8" t="17705" r="22567" b="9440"/>
          <a:stretch/>
        </p:blipFill>
        <p:spPr bwMode="auto">
          <a:xfrm>
            <a:off x="4211960" y="2095922"/>
            <a:ext cx="1296144" cy="120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3" descr="D:\Users\Kharitonov_E\Dropbox\MEPhI\3M_Maching_learning\lab2\plots\task3_real_fix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8" t="17705" r="22567" b="9440"/>
          <a:stretch/>
        </p:blipFill>
        <p:spPr bwMode="auto">
          <a:xfrm>
            <a:off x="4211960" y="3320058"/>
            <a:ext cx="1296144" cy="120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1693421" y="104050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 smtClean="0"/>
              <a:t>50%</a:t>
            </a:r>
            <a:endParaRPr lang="ru-RU" sz="1800" b="1" dirty="0"/>
          </a:p>
        </p:txBody>
      </p:sp>
      <p:pic>
        <p:nvPicPr>
          <p:cNvPr id="59" name="Picture 2" descr="D:\Users\Kharitonov_E\Dropbox\MEPhI\3M_Maching_learning\lab2\plots\task2_gaus_surface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3" t="16594" r="22921" b="9074"/>
          <a:stretch/>
        </p:blipFill>
        <p:spPr bwMode="auto">
          <a:xfrm>
            <a:off x="2555776" y="933037"/>
            <a:ext cx="1224136" cy="115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D:\Users\Kharitonov_E\Dropbox\MEPhI\3M_Maching_learning\lab2\plots\task2_gaus_surface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3" t="16594" r="22921" b="9074"/>
          <a:stretch/>
        </p:blipFill>
        <p:spPr bwMode="auto">
          <a:xfrm>
            <a:off x="2555776" y="2160332"/>
            <a:ext cx="1224136" cy="115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D:\Users\Kharitonov_E\Dropbox\MEPhI\3M_Maching_learning\lab2\plots\task2_gaus_surface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3" t="16594" r="22921" b="9074"/>
          <a:stretch/>
        </p:blipFill>
        <p:spPr bwMode="auto">
          <a:xfrm>
            <a:off x="2555776" y="3429216"/>
            <a:ext cx="1224136" cy="115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Минус 61"/>
          <p:cNvSpPr/>
          <p:nvPr/>
        </p:nvSpPr>
        <p:spPr>
          <a:xfrm>
            <a:off x="3799781" y="1262354"/>
            <a:ext cx="379919" cy="343753"/>
          </a:xfrm>
          <a:prstGeom prst="mathMinus">
            <a:avLst/>
          </a:prstGeom>
          <a:solidFill>
            <a:srgbClr val="E6E6E6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Равно 62"/>
          <p:cNvSpPr/>
          <p:nvPr/>
        </p:nvSpPr>
        <p:spPr>
          <a:xfrm>
            <a:off x="7020272" y="2499742"/>
            <a:ext cx="432048" cy="288032"/>
          </a:xfrm>
          <a:prstGeom prst="mathEqual">
            <a:avLst/>
          </a:prstGeom>
          <a:solidFill>
            <a:srgbClr val="E6E6E6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4" name="Минус 63"/>
          <p:cNvSpPr/>
          <p:nvPr/>
        </p:nvSpPr>
        <p:spPr>
          <a:xfrm>
            <a:off x="3779912" y="2469911"/>
            <a:ext cx="379919" cy="343753"/>
          </a:xfrm>
          <a:prstGeom prst="mathMinus">
            <a:avLst/>
          </a:prstGeom>
          <a:solidFill>
            <a:srgbClr val="E6E6E6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Минус 64"/>
          <p:cNvSpPr/>
          <p:nvPr/>
        </p:nvSpPr>
        <p:spPr>
          <a:xfrm>
            <a:off x="3799781" y="3748950"/>
            <a:ext cx="379919" cy="343753"/>
          </a:xfrm>
          <a:prstGeom prst="mathMinus">
            <a:avLst/>
          </a:prstGeom>
          <a:solidFill>
            <a:srgbClr val="E6E6E6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Месяц 53"/>
          <p:cNvSpPr/>
          <p:nvPr/>
        </p:nvSpPr>
        <p:spPr>
          <a:xfrm>
            <a:off x="2267744" y="928626"/>
            <a:ext cx="144016" cy="903969"/>
          </a:xfrm>
          <a:prstGeom prst="moon">
            <a:avLst/>
          </a:prstGeom>
          <a:solidFill>
            <a:srgbClr val="E6E7F6">
              <a:alpha val="20000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Месяц 68"/>
          <p:cNvSpPr/>
          <p:nvPr/>
        </p:nvSpPr>
        <p:spPr>
          <a:xfrm>
            <a:off x="2204461" y="2273027"/>
            <a:ext cx="144016" cy="903969"/>
          </a:xfrm>
          <a:prstGeom prst="moon">
            <a:avLst/>
          </a:prstGeom>
          <a:solidFill>
            <a:srgbClr val="E6E7F6">
              <a:alpha val="20000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Месяц 69"/>
          <p:cNvSpPr/>
          <p:nvPr/>
        </p:nvSpPr>
        <p:spPr>
          <a:xfrm>
            <a:off x="2214852" y="3468842"/>
            <a:ext cx="144016" cy="903969"/>
          </a:xfrm>
          <a:prstGeom prst="moon">
            <a:avLst/>
          </a:prstGeom>
          <a:solidFill>
            <a:srgbClr val="E6E7F6">
              <a:alpha val="20000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Месяц 70"/>
          <p:cNvSpPr/>
          <p:nvPr/>
        </p:nvSpPr>
        <p:spPr>
          <a:xfrm flipH="1">
            <a:off x="5580112" y="906566"/>
            <a:ext cx="144016" cy="903969"/>
          </a:xfrm>
          <a:prstGeom prst="moon">
            <a:avLst/>
          </a:prstGeom>
          <a:solidFill>
            <a:srgbClr val="E6E7F6">
              <a:alpha val="20000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Месяц 71"/>
          <p:cNvSpPr/>
          <p:nvPr/>
        </p:nvSpPr>
        <p:spPr>
          <a:xfrm flipH="1">
            <a:off x="5610022" y="2272207"/>
            <a:ext cx="144016" cy="903969"/>
          </a:xfrm>
          <a:prstGeom prst="moon">
            <a:avLst/>
          </a:prstGeom>
          <a:solidFill>
            <a:srgbClr val="E6E7F6">
              <a:alpha val="20000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Месяц 72"/>
          <p:cNvSpPr/>
          <p:nvPr/>
        </p:nvSpPr>
        <p:spPr>
          <a:xfrm flipH="1">
            <a:off x="5580112" y="3468842"/>
            <a:ext cx="144016" cy="903969"/>
          </a:xfrm>
          <a:prstGeom prst="moon">
            <a:avLst/>
          </a:prstGeom>
          <a:solidFill>
            <a:srgbClr val="E6E7F6">
              <a:alpha val="20000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рямоугольник 57"/>
          <p:cNvSpPr/>
          <p:nvPr/>
        </p:nvSpPr>
        <p:spPr>
          <a:xfrm>
            <a:off x="5682030" y="580788"/>
            <a:ext cx="3561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dirty="0" smtClean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2400" b="1" dirty="0">
              <a:ln w="12700">
                <a:solidFill>
                  <a:schemeClr val="bg1">
                    <a:lumMod val="50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5" name="Прямоугольник 74"/>
          <p:cNvSpPr/>
          <p:nvPr/>
        </p:nvSpPr>
        <p:spPr>
          <a:xfrm>
            <a:off x="5724128" y="1966069"/>
            <a:ext cx="3561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dirty="0" smtClean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2400" b="1" dirty="0">
              <a:ln w="12700">
                <a:solidFill>
                  <a:schemeClr val="bg1">
                    <a:lumMod val="50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6" name="Прямоугольник 75"/>
          <p:cNvSpPr/>
          <p:nvPr/>
        </p:nvSpPr>
        <p:spPr>
          <a:xfrm>
            <a:off x="5724128" y="3147814"/>
            <a:ext cx="3561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dirty="0" smtClean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2400" b="1" dirty="0">
              <a:ln w="12700">
                <a:solidFill>
                  <a:schemeClr val="bg1">
                    <a:lumMod val="50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7" name="Прямоугольник 76"/>
          <p:cNvSpPr/>
          <p:nvPr/>
        </p:nvSpPr>
        <p:spPr>
          <a:xfrm>
            <a:off x="6300192" y="1966069"/>
            <a:ext cx="84834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∑</a:t>
            </a:r>
          </a:p>
        </p:txBody>
      </p:sp>
      <p:sp>
        <p:nvSpPr>
          <p:cNvPr id="78" name="Прямоугольник 77"/>
          <p:cNvSpPr/>
          <p:nvPr/>
        </p:nvSpPr>
        <p:spPr>
          <a:xfrm>
            <a:off x="6300192" y="1832595"/>
            <a:ext cx="848344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_</a:t>
            </a:r>
          </a:p>
        </p:txBody>
      </p:sp>
      <p:sp>
        <p:nvSpPr>
          <p:cNvPr id="79" name="Прямоугольник 78"/>
          <p:cNvSpPr/>
          <p:nvPr/>
        </p:nvSpPr>
        <p:spPr>
          <a:xfrm>
            <a:off x="6300192" y="2583944"/>
            <a:ext cx="848344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</a:t>
            </a:r>
            <a:endParaRPr lang="ru-RU" sz="4000" b="1" dirty="0">
              <a:ln w="12700">
                <a:solidFill>
                  <a:schemeClr val="bg1">
                    <a:lumMod val="50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67" name="Прямая со стрелкой 66"/>
          <p:cNvCxnSpPr/>
          <p:nvPr/>
        </p:nvCxnSpPr>
        <p:spPr>
          <a:xfrm>
            <a:off x="5902222" y="1328539"/>
            <a:ext cx="613994" cy="991473"/>
          </a:xfrm>
          <a:prstGeom prst="straightConnector1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/>
          <p:nvPr/>
        </p:nvCxnSpPr>
        <p:spPr>
          <a:xfrm flipV="1">
            <a:off x="5902222" y="2376847"/>
            <a:ext cx="613994" cy="319845"/>
          </a:xfrm>
          <a:prstGeom prst="straightConnector1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/>
          <p:nvPr/>
        </p:nvCxnSpPr>
        <p:spPr>
          <a:xfrm flipV="1">
            <a:off x="5860124" y="2469911"/>
            <a:ext cx="656092" cy="1450917"/>
          </a:xfrm>
          <a:prstGeom prst="straightConnector1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D:\Users\Kharitonov_E\Dropbox\MEPhI\3M_Maching_learning\lab2\plots\task3_variance_silver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0" t="17014" r="22129" b="8102"/>
          <a:stretch/>
        </p:blipFill>
        <p:spPr bwMode="auto">
          <a:xfrm>
            <a:off x="7447075" y="1976610"/>
            <a:ext cx="1552058" cy="145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Прямоугольник 100"/>
          <p:cNvSpPr/>
          <p:nvPr/>
        </p:nvSpPr>
        <p:spPr>
          <a:xfrm>
            <a:off x="2317676" y="555526"/>
            <a:ext cx="1606252" cy="334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Плотность по выборке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2" name="Прямоугольник 101"/>
          <p:cNvSpPr/>
          <p:nvPr/>
        </p:nvSpPr>
        <p:spPr>
          <a:xfrm>
            <a:off x="4067944" y="499780"/>
            <a:ext cx="1368152" cy="334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Средняя плотность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3" name="Прямоугольник 102"/>
          <p:cNvSpPr/>
          <p:nvPr/>
        </p:nvSpPr>
        <p:spPr>
          <a:xfrm>
            <a:off x="7258719" y="1601329"/>
            <a:ext cx="1647377" cy="334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Дисперсия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88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62" grpId="0" animBg="1"/>
      <p:bldP spid="63" grpId="0" animBg="1"/>
      <p:bldP spid="64" grpId="0" animBg="1"/>
      <p:bldP spid="65" grpId="0" animBg="1"/>
      <p:bldP spid="54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58" grpId="0"/>
      <p:bldP spid="75" grpId="0"/>
      <p:bldP spid="76" grpId="0"/>
      <p:bldP spid="77" grpId="0"/>
      <p:bldP spid="78" grpId="0"/>
      <p:bldP spid="79" grpId="0"/>
      <p:bldP spid="101" grpId="0" animBg="1"/>
      <p:bldP spid="102" grpId="0" animBg="1"/>
      <p:bldP spid="10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Дисперсия (слишком узкое окно)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D:\Users\Kharitonov_E\Dropbox\MEPhI\3M_Maching_learning\lab2\plots\task3_variance_small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0" t="17146" r="8348" b="7339"/>
          <a:stretch/>
        </p:blipFill>
        <p:spPr bwMode="auto">
          <a:xfrm>
            <a:off x="2267744" y="915565"/>
            <a:ext cx="4608512" cy="353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67"/>
          <p:cNvSpPr txBox="1">
            <a:spLocks noGrp="1"/>
          </p:cNvSpPr>
          <p:nvPr>
            <p:ph type="body" idx="1"/>
          </p:nvPr>
        </p:nvSpPr>
        <p:spPr>
          <a:xfrm>
            <a:off x="107504" y="4227934"/>
            <a:ext cx="8934276" cy="8028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29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Дисперсия в</a:t>
            </a:r>
            <a:r>
              <a:rPr lang="ru-RU" dirty="0" smtClean="0"/>
              <a:t>осстановленной плотности распределения со слишком узким размером окна </a:t>
            </a:r>
            <a:r>
              <a:rPr lang="en-US" dirty="0" smtClean="0"/>
              <a:t>– </a:t>
            </a:r>
            <a:r>
              <a:rPr lang="ru-RU" dirty="0" smtClean="0"/>
              <a:t>(0</a:t>
            </a:r>
            <a:r>
              <a:rPr lang="en-US" dirty="0" smtClean="0"/>
              <a:t>.15, 0.15</a:t>
            </a:r>
            <a:r>
              <a:rPr lang="ru-RU" dirty="0" smtClean="0"/>
              <a:t>). 10 выборок по 50% данных.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329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Дисперсия (окно по Сильверману)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hape 67"/>
          <p:cNvSpPr txBox="1">
            <a:spLocks noGrp="1"/>
          </p:cNvSpPr>
          <p:nvPr>
            <p:ph type="body" idx="1"/>
          </p:nvPr>
        </p:nvSpPr>
        <p:spPr>
          <a:xfrm>
            <a:off x="107504" y="4227934"/>
            <a:ext cx="8934276" cy="8028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30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Дисперсия в</a:t>
            </a:r>
            <a:r>
              <a:rPr lang="ru-RU" dirty="0" smtClean="0"/>
              <a:t>осстановленной плотности распределения с </a:t>
            </a:r>
            <a:r>
              <a:rPr lang="ru-RU" dirty="0"/>
              <a:t>размером окна по правилу Сильвермана </a:t>
            </a:r>
            <a:r>
              <a:rPr lang="en-US" dirty="0"/>
              <a:t>– </a:t>
            </a:r>
            <a:r>
              <a:rPr lang="ru-RU" dirty="0"/>
              <a:t>(0</a:t>
            </a:r>
            <a:r>
              <a:rPr lang="en-US" dirty="0"/>
              <a:t>.</a:t>
            </a:r>
            <a:r>
              <a:rPr lang="ru-RU" dirty="0"/>
              <a:t>69</a:t>
            </a:r>
            <a:r>
              <a:rPr lang="en-US" dirty="0"/>
              <a:t>, 0.</a:t>
            </a:r>
            <a:r>
              <a:rPr lang="ru-RU" dirty="0" smtClean="0"/>
              <a:t>50). 10 выборок по 50% данных.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pic>
        <p:nvPicPr>
          <p:cNvPr id="2050" name="Picture 2" descr="D:\Users\Kharitonov_E\Dropbox\MEPhI\3M_Maching_learning\lab2\plots\task3_variance_silve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6" t="16600" r="9167" b="8121"/>
          <a:stretch/>
        </p:blipFill>
        <p:spPr bwMode="auto">
          <a:xfrm>
            <a:off x="2267744" y="915566"/>
            <a:ext cx="4536504" cy="351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28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Дисперсия (слишком широкое окно)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 descr="D:\Users\Kharitonov_E\Dropbox\MEPhI\3M_Maching_learning\lab2\plots\task3_variance_big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6" t="17275" r="9873" b="8113"/>
          <a:stretch/>
        </p:blipFill>
        <p:spPr bwMode="auto">
          <a:xfrm>
            <a:off x="2123729" y="915566"/>
            <a:ext cx="4612242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67"/>
          <p:cNvSpPr txBox="1">
            <a:spLocks noGrp="1"/>
          </p:cNvSpPr>
          <p:nvPr>
            <p:ph type="body" idx="1"/>
          </p:nvPr>
        </p:nvSpPr>
        <p:spPr>
          <a:xfrm>
            <a:off x="107504" y="4227934"/>
            <a:ext cx="8934276" cy="8028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31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Дисперсия в</a:t>
            </a:r>
            <a:r>
              <a:rPr lang="ru-RU" dirty="0"/>
              <a:t>осстановленной </a:t>
            </a:r>
            <a:r>
              <a:rPr lang="ru-RU" dirty="0" smtClean="0"/>
              <a:t>плотности </a:t>
            </a:r>
            <a:r>
              <a:rPr lang="ru-RU" dirty="0"/>
              <a:t>распределения со слишком широким размером окна </a:t>
            </a:r>
            <a:r>
              <a:rPr lang="en-US" dirty="0"/>
              <a:t>– </a:t>
            </a:r>
            <a:r>
              <a:rPr lang="ru-RU" dirty="0"/>
              <a:t>(5</a:t>
            </a:r>
            <a:r>
              <a:rPr lang="en-US" dirty="0"/>
              <a:t>.</a:t>
            </a:r>
            <a:r>
              <a:rPr lang="ru-RU" dirty="0"/>
              <a:t>0</a:t>
            </a:r>
            <a:r>
              <a:rPr lang="en-US" dirty="0"/>
              <a:t>, </a:t>
            </a:r>
            <a:r>
              <a:rPr lang="ru-RU" dirty="0"/>
              <a:t>5</a:t>
            </a:r>
            <a:r>
              <a:rPr lang="en-US" dirty="0"/>
              <a:t>.</a:t>
            </a:r>
            <a:r>
              <a:rPr lang="ru-RU" dirty="0" smtClean="0"/>
              <a:t>0). 10 выборок по 50% данных.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306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 в фиксированных точках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D:\Users\Kharitonov_E\Dropbox\MEPhI\3M_Maching_learning\lab2\plots\task4_fixed_points_visual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7" b="2089"/>
          <a:stretch/>
        </p:blipFill>
        <p:spPr bwMode="auto">
          <a:xfrm>
            <a:off x="1691680" y="915566"/>
            <a:ext cx="5335339" cy="348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67"/>
          <p:cNvSpPr txBox="1">
            <a:spLocks noGrp="1"/>
          </p:cNvSpPr>
          <p:nvPr>
            <p:ph type="body" idx="1"/>
          </p:nvPr>
        </p:nvSpPr>
        <p:spPr>
          <a:xfrm>
            <a:off x="107504" y="4227934"/>
            <a:ext cx="8934276" cy="8028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32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dirty="0" smtClean="0"/>
              <a:t>Визуализация выбранных фиксированных точек на фоне исходных данных на координатной плоскости</a:t>
            </a:r>
            <a:endParaRPr lang="en" dirty="0"/>
          </a:p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dirty="0" smtClean="0"/>
              <a:t>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203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7"/>
          <p:cNvSpPr txBox="1">
            <a:spLocks noGrp="1"/>
          </p:cNvSpPr>
          <p:nvPr>
            <p:ph type="body" idx="1"/>
          </p:nvPr>
        </p:nvSpPr>
        <p:spPr>
          <a:xfrm>
            <a:off x="107504" y="4227934"/>
            <a:ext cx="8934276" cy="8028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32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dirty="0" smtClean="0"/>
              <a:t>Зависимость смещения от коэффициента  пропорциональности </a:t>
            </a:r>
            <a:r>
              <a:rPr lang="el-GR" dirty="0" smtClean="0"/>
              <a:t>λ</a:t>
            </a:r>
            <a:r>
              <a:rPr lang="ru-RU" dirty="0"/>
              <a:t> </a:t>
            </a:r>
            <a:r>
              <a:rPr lang="ru-RU" dirty="0" smtClean="0"/>
              <a:t>в различных фиксированных точках (</a:t>
            </a:r>
            <a:r>
              <a:rPr lang="en-US" dirty="0"/>
              <a:t>G</a:t>
            </a:r>
            <a:r>
              <a:rPr lang="en-US" dirty="0" smtClean="0"/>
              <a:t>aussian kernel</a:t>
            </a:r>
            <a:r>
              <a:rPr lang="ru-RU" dirty="0" smtClean="0"/>
              <a:t>)</a:t>
            </a:r>
            <a:endParaRPr lang="en" dirty="0" smtClean="0"/>
          </a:p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dirty="0" smtClean="0"/>
              <a:t>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pic>
        <p:nvPicPr>
          <p:cNvPr id="5123" name="Picture 3" descr="D:\Users\Kharitonov_E\Dropbox\MEPhI\3M_Maching_learning\lab2\plots\task4_bias_lambda_points_bo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1" r="1410" b="1837"/>
          <a:stretch/>
        </p:blipFill>
        <p:spPr bwMode="auto">
          <a:xfrm>
            <a:off x="1691680" y="843558"/>
            <a:ext cx="5184576" cy="344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Смещение в фиксированных точках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300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7"/>
          <p:cNvSpPr txBox="1">
            <a:spLocks noGrp="1"/>
          </p:cNvSpPr>
          <p:nvPr>
            <p:ph type="body" idx="1"/>
          </p:nvPr>
        </p:nvSpPr>
        <p:spPr>
          <a:xfrm>
            <a:off x="107504" y="4227934"/>
            <a:ext cx="8934276" cy="8028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Рисунок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33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dirty="0" smtClean="0"/>
              <a:t>Зависимость смещения от коэффициента  пропорциональности </a:t>
            </a:r>
            <a:r>
              <a:rPr lang="el-GR" dirty="0" smtClean="0"/>
              <a:t>λ</a:t>
            </a:r>
            <a:r>
              <a:rPr lang="ru-RU" dirty="0"/>
              <a:t> </a:t>
            </a:r>
            <a:r>
              <a:rPr lang="ru-RU" dirty="0" smtClean="0"/>
              <a:t>при различных типах ядра в фиксированной точке 1</a:t>
            </a:r>
            <a:endParaRPr lang="en" dirty="0" smtClean="0"/>
          </a:p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dirty="0" smtClean="0"/>
              <a:t>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pic>
        <p:nvPicPr>
          <p:cNvPr id="5122" name="Picture 2" descr="D:\Users\Kharitonov_E\Dropbox\MEPhI\3M_Maching_learning\lab2\plots\task4_bias_lambda_kernels_p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8" r="-2434" b="1948"/>
          <a:stretch/>
        </p:blipFill>
        <p:spPr bwMode="auto">
          <a:xfrm>
            <a:off x="1691680" y="843557"/>
            <a:ext cx="5544616" cy="350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Смещение в фиксированных точках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15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7"/>
          <p:cNvSpPr txBox="1">
            <a:spLocks noGrp="1"/>
          </p:cNvSpPr>
          <p:nvPr>
            <p:ph type="body" idx="1"/>
          </p:nvPr>
        </p:nvSpPr>
        <p:spPr>
          <a:xfrm>
            <a:off x="107504" y="4011910"/>
            <a:ext cx="8934276" cy="101886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Рисунк</a:t>
            </a:r>
            <a:r>
              <a:rPr lang="ru-RU" dirty="0"/>
              <a:t>и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 </a:t>
            </a:r>
            <a:r>
              <a:rPr lang="ru-RU" dirty="0" smtClean="0"/>
              <a:t>3</a:t>
            </a:r>
            <a:r>
              <a:rPr lang="en-US" dirty="0" smtClean="0"/>
              <a:t>4</a:t>
            </a:r>
            <a:r>
              <a:rPr lang="ru-RU" dirty="0" smtClean="0"/>
              <a:t>, 35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dirty="0" smtClean="0"/>
              <a:t>Зависимость смещения от коэффициента  пропорциональности </a:t>
            </a:r>
            <a:r>
              <a:rPr lang="el-GR" dirty="0" smtClean="0"/>
              <a:t>λ</a:t>
            </a:r>
            <a:r>
              <a:rPr lang="ru-RU" dirty="0"/>
              <a:t> </a:t>
            </a:r>
            <a:r>
              <a:rPr lang="ru-RU" dirty="0" smtClean="0"/>
              <a:t>при различных типах ядра в фиксированной точке </a:t>
            </a:r>
            <a:r>
              <a:rPr lang="en-US" dirty="0" smtClean="0"/>
              <a:t>3</a:t>
            </a:r>
            <a:r>
              <a:rPr lang="ru-RU" dirty="0" smtClean="0"/>
              <a:t>. Слева смещение по модулю.</a:t>
            </a:r>
            <a:endParaRPr lang="en" dirty="0" smtClean="0"/>
          </a:p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dirty="0" smtClean="0"/>
              <a:t>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Смещение в фиксированных точках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6" name="Picture 2" descr="D:\Users\Kharitonov_E\Dropbox\MEPhI\3M_Maching_learning\lab2\plots\task4_bias_lambda_kernels_p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" t="11172" r="8745" b="1949"/>
          <a:stretch/>
        </p:blipFill>
        <p:spPr bwMode="auto">
          <a:xfrm>
            <a:off x="203160" y="987574"/>
            <a:ext cx="4310930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D:\Users\Kharitonov_E\Dropbox\MEPhI\3M_Maching_learning\lab2\plots\task4_bias_lambda_kernels_p3_not_abs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" t="11626" r="9167" b="1969"/>
          <a:stretch/>
        </p:blipFill>
        <p:spPr bwMode="auto">
          <a:xfrm>
            <a:off x="4598086" y="985486"/>
            <a:ext cx="4278384" cy="309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2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7"/>
          <p:cNvSpPr txBox="1">
            <a:spLocks noGrp="1"/>
          </p:cNvSpPr>
          <p:nvPr>
            <p:ph type="body" idx="1"/>
          </p:nvPr>
        </p:nvSpPr>
        <p:spPr>
          <a:xfrm>
            <a:off x="107504" y="4197297"/>
            <a:ext cx="8934276" cy="83347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indent="0">
              <a:spcAft>
                <a:spcPts val="0"/>
              </a:spcAft>
              <a:buSzPct val="25000"/>
              <a:buNone/>
            </a:pPr>
            <a:r>
              <a:rPr lang="ru-RU" b="0" i="0" u="none" strike="noStrike" cap="none" dirty="0" smtClean="0">
                <a:solidFill>
                  <a:schemeClr val="dk2"/>
                </a:solidFill>
                <a:sym typeface="Arial"/>
              </a:rPr>
              <a:t>Рисунок 36</a:t>
            </a:r>
            <a:r>
              <a:rPr lang="en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dirty="0"/>
              <a:t>Зависимость </a:t>
            </a:r>
            <a:r>
              <a:rPr lang="ru-RU" dirty="0" smtClean="0"/>
              <a:t>дисперсии от </a:t>
            </a:r>
            <a:r>
              <a:rPr lang="ru-RU" dirty="0"/>
              <a:t>коэффициента  пропорциональности </a:t>
            </a:r>
            <a:r>
              <a:rPr lang="el-GR" dirty="0"/>
              <a:t>λ</a:t>
            </a:r>
            <a:r>
              <a:rPr lang="ru-RU" dirty="0"/>
              <a:t> в различных фиксированных точках (</a:t>
            </a:r>
            <a:r>
              <a:rPr lang="en-US" dirty="0"/>
              <a:t>Gaussian kernel</a:t>
            </a:r>
            <a:r>
              <a:rPr lang="ru-RU" dirty="0"/>
              <a:t>)</a:t>
            </a:r>
            <a:endParaRPr lang="en" dirty="0"/>
          </a:p>
          <a:p>
            <a:pPr lvl="0" indent="0">
              <a:spcAft>
                <a:spcPts val="0"/>
              </a:spcAft>
              <a:buSzPct val="25000"/>
              <a:buNone/>
            </a:pPr>
            <a:r>
              <a:rPr lang="ru-RU" dirty="0" smtClean="0"/>
              <a:t>.</a:t>
            </a:r>
            <a:endParaRPr lang="en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pic>
        <p:nvPicPr>
          <p:cNvPr id="7170" name="Picture 2" descr="D:\Users\Kharitonov_E\Dropbox\MEPhI\3M_Maching_learning\lab2\plots\task4_var_from_lmb_points_gaus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11153" r="8085" b="2206"/>
          <a:stretch/>
        </p:blipFill>
        <p:spPr bwMode="auto">
          <a:xfrm>
            <a:off x="1763688" y="800196"/>
            <a:ext cx="4848008" cy="349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Дисперсия в фиксированных точках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598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 </a:t>
            </a:r>
            <a:r>
              <a:rPr lang="en-US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MISE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95686"/>
            <a:ext cx="787734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817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:\Users\Kharitonov_E\Dropbox\MEPhI\3M_Maching_learning\lab2\plots\task5_MISE_from_lambda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" t="11760" r="9352" b="2071"/>
          <a:stretch/>
        </p:blipFill>
        <p:spPr bwMode="auto">
          <a:xfrm>
            <a:off x="1907704" y="843558"/>
            <a:ext cx="5122853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67"/>
          <p:cNvSpPr txBox="1">
            <a:spLocks noGrp="1"/>
          </p:cNvSpPr>
          <p:nvPr>
            <p:ph type="body" idx="1"/>
          </p:nvPr>
        </p:nvSpPr>
        <p:spPr>
          <a:xfrm>
            <a:off x="107504" y="4443958"/>
            <a:ext cx="8934276" cy="58681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indent="0">
              <a:spcAft>
                <a:spcPts val="0"/>
              </a:spcAft>
              <a:buSzPct val="25000"/>
              <a:buNone/>
            </a:pPr>
            <a:r>
              <a:rPr lang="ru-RU" sz="1500" b="0" i="0" u="none" strike="noStrike" cap="none" dirty="0" smtClean="0">
                <a:solidFill>
                  <a:schemeClr val="dk2"/>
                </a:solidFill>
                <a:sym typeface="Arial"/>
              </a:rPr>
              <a:t>Рисунок 3</a:t>
            </a:r>
            <a:r>
              <a:rPr lang="en-US" sz="1500" b="0" i="0" u="none" strike="noStrike" cap="none" dirty="0" smtClean="0">
                <a:solidFill>
                  <a:schemeClr val="dk2"/>
                </a:solidFill>
                <a:sym typeface="Arial"/>
              </a:rPr>
              <a:t>7</a:t>
            </a:r>
            <a:r>
              <a:rPr lang="en" sz="1500" b="0" i="0" u="none" strike="noStrike" cap="none" dirty="0" smtClean="0">
                <a:solidFill>
                  <a:schemeClr val="dk2"/>
                </a:solidFill>
                <a:sym typeface="Arial"/>
              </a:rPr>
              <a:t>. </a:t>
            </a:r>
            <a:r>
              <a:rPr lang="ru-RU" sz="1500" dirty="0"/>
              <a:t>Зависимость средней интегральной ошибки восстановления </a:t>
            </a:r>
            <a:r>
              <a:rPr lang="ru-RU" sz="1500" dirty="0" smtClean="0"/>
              <a:t>плотности</a:t>
            </a:r>
            <a:r>
              <a:rPr lang="en-US" sz="1500" dirty="0" smtClean="0"/>
              <a:t> </a:t>
            </a:r>
            <a:r>
              <a:rPr lang="ru-RU" sz="1500" dirty="0" smtClean="0"/>
              <a:t>(MISE</a:t>
            </a:r>
            <a:r>
              <a:rPr lang="ru-RU" sz="1500" dirty="0"/>
              <a:t>) от коэффициента пропорциональности </a:t>
            </a:r>
            <a:r>
              <a:rPr lang="el-GR" sz="1500" dirty="0"/>
              <a:t>λ</a:t>
            </a:r>
            <a:r>
              <a:rPr lang="ru-RU" sz="1500" dirty="0"/>
              <a:t> при различных типах ядра в фиксированной точке </a:t>
            </a:r>
            <a:r>
              <a:rPr lang="en-US" sz="1500" dirty="0" smtClean="0"/>
              <a:t>1</a:t>
            </a:r>
            <a:endParaRPr lang="en" sz="1500" b="0" i="0" u="none" strike="noStrike" cap="none" dirty="0">
              <a:solidFill>
                <a:schemeClr val="dk2"/>
              </a:solidFill>
              <a:sym typeface="Arial"/>
            </a:endParaRPr>
          </a:p>
        </p:txBody>
      </p:sp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Дисперсия в фиксированных точках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026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Выводы (</a:t>
            </a: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ширина окна</a:t>
            </a:r>
            <a:r>
              <a:rPr lang="en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311700" y="1059582"/>
            <a:ext cx="8580780" cy="3744415"/>
          </a:xfrm>
        </p:spPr>
        <p:txBody>
          <a:bodyPr/>
          <a:lstStyle/>
          <a:p>
            <a:pPr indent="0">
              <a:spcAft>
                <a:spcPts val="0"/>
              </a:spcAft>
              <a:buNone/>
            </a:pPr>
            <a:r>
              <a:rPr lang="ru-RU" sz="2000" dirty="0"/>
              <a:t>Для восстановления плотности распределения необходимо выбрать вид и ширину окна.</a:t>
            </a:r>
            <a:br>
              <a:rPr lang="ru-RU" sz="2000" dirty="0"/>
            </a:br>
            <a:r>
              <a:rPr lang="ru-RU" sz="2000" dirty="0"/>
              <a:t>При увеличении ширины окна: </a:t>
            </a:r>
            <a:endParaRPr lang="ru-RU" sz="2000" dirty="0" smtClean="0"/>
          </a:p>
          <a:p>
            <a:pPr marL="265113" indent="98425">
              <a:spcAft>
                <a:spcPts val="0"/>
              </a:spcAft>
            </a:pPr>
            <a:r>
              <a:rPr lang="ru-RU" sz="2000" dirty="0"/>
              <a:t> </a:t>
            </a:r>
            <a:r>
              <a:rPr lang="ru-RU" sz="2000" dirty="0" smtClean="0"/>
              <a:t>смещение </a:t>
            </a:r>
            <a:r>
              <a:rPr lang="ru-RU" sz="2000" dirty="0"/>
              <a:t>резко </a:t>
            </a:r>
            <a:r>
              <a:rPr lang="ru-RU" sz="2000" dirty="0" smtClean="0"/>
              <a:t>убывает</a:t>
            </a:r>
            <a:r>
              <a:rPr lang="ru-RU" sz="2000" dirty="0"/>
              <a:t>, затем (немного не доходя до </a:t>
            </a:r>
            <a:r>
              <a:rPr lang="ru-RU" sz="2000" dirty="0" smtClean="0"/>
              <a:t>Сильвермана</a:t>
            </a:r>
            <a:r>
              <a:rPr lang="ru-RU" sz="2000" dirty="0"/>
              <a:t>) начинает плавно </a:t>
            </a:r>
            <a:r>
              <a:rPr lang="ru-RU" sz="2000" dirty="0" smtClean="0"/>
              <a:t>расти</a:t>
            </a:r>
          </a:p>
          <a:p>
            <a:pPr marL="265113" indent="98425">
              <a:spcAft>
                <a:spcPts val="0"/>
              </a:spcAft>
            </a:pPr>
            <a:r>
              <a:rPr lang="ru-RU" sz="2000" dirty="0" smtClean="0"/>
              <a:t> дисперсия </a:t>
            </a:r>
            <a:r>
              <a:rPr lang="ru-RU" sz="2000" dirty="0"/>
              <a:t>резко убывает примерно до Сильвермана</a:t>
            </a:r>
            <a:r>
              <a:rPr lang="ru-RU" sz="2000" dirty="0" smtClean="0"/>
              <a:t>, </a:t>
            </a:r>
            <a:r>
              <a:rPr lang="ru-RU" sz="2000" dirty="0"/>
              <a:t>потом плавно </a:t>
            </a:r>
            <a:r>
              <a:rPr lang="ru-RU" sz="2000" dirty="0" smtClean="0"/>
              <a:t>убывает</a:t>
            </a:r>
          </a:p>
          <a:p>
            <a:pPr marL="265113" indent="98425">
              <a:spcAft>
                <a:spcPts val="0"/>
              </a:spcAft>
            </a:pPr>
            <a:r>
              <a:rPr lang="ru-RU" sz="2000" dirty="0" smtClean="0"/>
              <a:t>‎ MISE </a:t>
            </a:r>
            <a:r>
              <a:rPr lang="ru-RU" sz="2000" dirty="0"/>
              <a:t>убывает до Сильвермана</a:t>
            </a:r>
            <a:r>
              <a:rPr lang="ru-RU" sz="2000" dirty="0" smtClean="0"/>
              <a:t>, </a:t>
            </a:r>
            <a:r>
              <a:rPr lang="ru-RU" sz="2000" dirty="0"/>
              <a:t>потом </a:t>
            </a:r>
            <a:r>
              <a:rPr lang="ru-RU" sz="2000" dirty="0" smtClean="0"/>
              <a:t>растёт</a:t>
            </a:r>
          </a:p>
          <a:p>
            <a:pPr indent="0">
              <a:spcAft>
                <a:spcPts val="0"/>
              </a:spcAft>
              <a:buNone/>
            </a:pPr>
            <a:r>
              <a:rPr lang="ru-RU" sz="2000" dirty="0" smtClean="0"/>
              <a:t>Оптимальную </a:t>
            </a:r>
            <a:r>
              <a:rPr lang="ru-RU" sz="2000" dirty="0"/>
              <a:t>ширину окна в зависимости от вида окна </a:t>
            </a:r>
            <a:r>
              <a:rPr lang="ru-RU" sz="2000" dirty="0" smtClean="0"/>
              <a:t>следует </a:t>
            </a:r>
            <a:r>
              <a:rPr lang="ru-RU" sz="2000" dirty="0"/>
              <a:t>искать в интервале </a:t>
            </a:r>
            <a:r>
              <a:rPr lang="ru-RU" sz="2000" dirty="0" smtClean="0"/>
              <a:t>0.7h-1.5h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Выводы (</a:t>
            </a:r>
            <a:r>
              <a:rPr lang="ru-RU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 окна</a:t>
            </a:r>
            <a:r>
              <a:rPr lang="en" sz="36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"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311700" y="1059582"/>
            <a:ext cx="8580780" cy="3744415"/>
          </a:xfrm>
        </p:spPr>
        <p:txBody>
          <a:bodyPr/>
          <a:lstStyle/>
          <a:p>
            <a:pPr indent="0">
              <a:spcAft>
                <a:spcPts val="0"/>
              </a:spcAft>
              <a:buNone/>
            </a:pPr>
            <a:r>
              <a:rPr lang="ru-RU" sz="2400" dirty="0"/>
              <a:t>Наименьшая ошибка с шириной </a:t>
            </a:r>
            <a:r>
              <a:rPr lang="ru-RU" sz="2400" dirty="0" smtClean="0"/>
              <a:t>Сильвермана </a:t>
            </a:r>
            <a:r>
              <a:rPr lang="ru-RU" sz="2400" dirty="0"/>
              <a:t>получилась у </a:t>
            </a:r>
            <a:r>
              <a:rPr lang="ru-RU" sz="2400" dirty="0" err="1"/>
              <a:t>Box</a:t>
            </a:r>
            <a:r>
              <a:rPr lang="ru-RU" sz="2400" dirty="0"/>
              <a:t> </a:t>
            </a:r>
            <a:r>
              <a:rPr lang="ru-RU" sz="2400" dirty="0" err="1"/>
              <a:t>Kernel</a:t>
            </a:r>
            <a:r>
              <a:rPr lang="ru-RU" sz="2400" dirty="0"/>
              <a:t>.</a:t>
            </a:r>
            <a:br>
              <a:rPr lang="ru-RU" sz="2400" dirty="0"/>
            </a:br>
            <a:r>
              <a:rPr lang="ru-RU" sz="2400" dirty="0" err="1"/>
              <a:t>Gauss</a:t>
            </a:r>
            <a:r>
              <a:rPr lang="ru-RU" sz="2400" dirty="0"/>
              <a:t> </a:t>
            </a:r>
            <a:r>
              <a:rPr lang="ru-RU" sz="2400" dirty="0" err="1"/>
              <a:t>kernel</a:t>
            </a:r>
            <a:r>
              <a:rPr lang="ru-RU" sz="2400" dirty="0"/>
              <a:t> - самый плавный</a:t>
            </a:r>
            <a:br>
              <a:rPr lang="ru-RU" sz="2400" dirty="0"/>
            </a:br>
            <a:r>
              <a:rPr lang="ru-RU" sz="2400" dirty="0" err="1"/>
              <a:t>Epanichnekov</a:t>
            </a:r>
            <a:r>
              <a:rPr lang="ru-RU" sz="2400" dirty="0"/>
              <a:t> &amp; </a:t>
            </a:r>
            <a:r>
              <a:rPr lang="ru-RU" sz="2400" dirty="0" err="1"/>
              <a:t>Triangular</a:t>
            </a:r>
            <a:r>
              <a:rPr lang="ru-RU" sz="2400" dirty="0"/>
              <a:t> </a:t>
            </a:r>
            <a:r>
              <a:rPr lang="ru-RU" sz="2400" dirty="0" err="1"/>
              <a:t>kernel</a:t>
            </a:r>
            <a:r>
              <a:rPr lang="ru-RU" sz="2400" dirty="0"/>
              <a:t> - несколько лишних пиков</a:t>
            </a:r>
            <a:br>
              <a:rPr lang="ru-RU" sz="2400" dirty="0"/>
            </a:br>
            <a:endParaRPr lang="ru-RU" sz="2400" dirty="0" smtClean="0"/>
          </a:p>
          <a:p>
            <a:pPr indent="0">
              <a:spcAft>
                <a:spcPts val="0"/>
              </a:spcAft>
              <a:buNone/>
            </a:pPr>
            <a:r>
              <a:rPr lang="ru-RU" sz="2400" dirty="0" smtClean="0"/>
              <a:t>Выбор </a:t>
            </a:r>
            <a:r>
              <a:rPr lang="ru-RU" sz="2400" dirty="0"/>
              <a:t>вида окна зависит от предполагаемого распределения данных.</a:t>
            </a:r>
            <a:r>
              <a:rPr lang="ru-RU" sz="2000" dirty="0"/>
              <a:t/>
            </a:r>
            <a:br>
              <a:rPr lang="ru-RU" sz="2000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5935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843</Words>
  <Application>Microsoft Office PowerPoint</Application>
  <PresentationFormat>Экран (16:9)</PresentationFormat>
  <Paragraphs>99</Paragraphs>
  <Slides>32</Slides>
  <Notes>32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3" baseType="lpstr">
      <vt:lpstr>Simple Light</vt:lpstr>
      <vt:lpstr>Non-parametric multi-dimensional density estimation</vt:lpstr>
      <vt:lpstr>Исходные данные</vt:lpstr>
      <vt:lpstr>Визуализация данных</vt:lpstr>
      <vt:lpstr>Восстановление плотности распределения</vt:lpstr>
      <vt:lpstr>Ширина окна</vt:lpstr>
      <vt:lpstr>Ширина окна (правило Сильвермана)</vt:lpstr>
      <vt:lpstr>Ширина окна (слишком узкое)</vt:lpstr>
      <vt:lpstr>Ширина окна (правило Сильвермана)</vt:lpstr>
      <vt:lpstr>Ширина окна (слишком широкое)</vt:lpstr>
      <vt:lpstr>Выбор функции ядра (kernel)</vt:lpstr>
      <vt:lpstr>Выбор функции ядра (kernel)</vt:lpstr>
      <vt:lpstr>Выбор функции ядра (kernel)</vt:lpstr>
      <vt:lpstr>Box kernel</vt:lpstr>
      <vt:lpstr>Gaussian kernel</vt:lpstr>
      <vt:lpstr>Triangular kernel</vt:lpstr>
      <vt:lpstr>Epanechnikov kernel</vt:lpstr>
      <vt:lpstr>Анализ смещения</vt:lpstr>
      <vt:lpstr>Смещение при разной ширине окна</vt:lpstr>
      <vt:lpstr>Смещение при разной ширине окна</vt:lpstr>
      <vt:lpstr>Анализ дисперсии</vt:lpstr>
      <vt:lpstr>Дисперсия (слишком узкое окно)</vt:lpstr>
      <vt:lpstr>Дисперсия (окно по Сильверману)</vt:lpstr>
      <vt:lpstr>Дисперсия (слишком широкое окно)</vt:lpstr>
      <vt:lpstr>Анализ в фиксированных точках</vt:lpstr>
      <vt:lpstr>Смещение в фиксированных точках</vt:lpstr>
      <vt:lpstr>Смещение в фиксированных точках</vt:lpstr>
      <vt:lpstr>Смещение в фиксированных точках</vt:lpstr>
      <vt:lpstr>Дисперсия в фиксированных точках</vt:lpstr>
      <vt:lpstr>Анализ MISE</vt:lpstr>
      <vt:lpstr>Дисперсия в фиксированных точках</vt:lpstr>
      <vt:lpstr>Выводы (ширина окна)</vt:lpstr>
      <vt:lpstr>Выводы (вид окна)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model-wide measures</dc:title>
  <dc:creator>Kharitonov Evgeny</dc:creator>
  <cp:lastModifiedBy>BPC</cp:lastModifiedBy>
  <cp:revision>96</cp:revision>
  <dcterms:modified xsi:type="dcterms:W3CDTF">2017-11-13T14:14:59Z</dcterms:modified>
</cp:coreProperties>
</file>