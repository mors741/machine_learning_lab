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1" r:id="rId3"/>
    <p:sldId id="262" r:id="rId4"/>
    <p:sldId id="263" r:id="rId5"/>
    <p:sldId id="264" r:id="rId6"/>
    <p:sldId id="265" r:id="rId7"/>
    <p:sldId id="266" r:id="rId8"/>
    <p:sldId id="259" r:id="rId9"/>
    <p:sldId id="267" r:id="rId10"/>
    <p:sldId id="270" r:id="rId11"/>
    <p:sldId id="271" r:id="rId12"/>
    <p:sldId id="260"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59B"/>
    <a:srgbClr val="9CFE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51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lstStyle>
            <a:lvl1pPr marL="0" marR="0" lvl="0" indent="69850" algn="l" rtl="0">
              <a:spcBef>
                <a:spcPts val="0"/>
              </a:spcBef>
              <a:buSzPct val="100000"/>
              <a:buFont typeface="Arial"/>
              <a:buChar char="●"/>
              <a:defRPr sz="1100" b="0" i="0" u="none" strike="noStrike" cap="none"/>
            </a:lvl1pPr>
            <a:lvl2pPr marL="0" marR="0" lvl="1" indent="69850" algn="l" rtl="0">
              <a:spcBef>
                <a:spcPts val="0"/>
              </a:spcBef>
              <a:buSzPct val="100000"/>
              <a:buFont typeface="Arial"/>
              <a:buChar char="○"/>
              <a:defRPr sz="1100" b="0" i="0" u="none" strike="noStrike" cap="none"/>
            </a:lvl2pPr>
            <a:lvl3pPr marL="0" marR="0" lvl="2" indent="69850" algn="l" rtl="0">
              <a:spcBef>
                <a:spcPts val="0"/>
              </a:spcBef>
              <a:buSzPct val="100000"/>
              <a:buFont typeface="Arial"/>
              <a:buChar char="■"/>
              <a:defRPr sz="1100" b="0" i="0" u="none" strike="noStrike" cap="none"/>
            </a:lvl3pPr>
            <a:lvl4pPr marL="0" marR="0" lvl="3" indent="69850" algn="l" rtl="0">
              <a:spcBef>
                <a:spcPts val="0"/>
              </a:spcBef>
              <a:buSzPct val="100000"/>
              <a:buFont typeface="Arial"/>
              <a:buChar char="●"/>
              <a:defRPr sz="1100" b="0" i="0" u="none" strike="noStrike" cap="none"/>
            </a:lvl4pPr>
            <a:lvl5pPr marL="0" marR="0" lvl="4" indent="69850" algn="l" rtl="0">
              <a:spcBef>
                <a:spcPts val="0"/>
              </a:spcBef>
              <a:buSzPct val="100000"/>
              <a:buFont typeface="Arial"/>
              <a:buChar char="○"/>
              <a:defRPr sz="1100" b="0" i="0" u="none" strike="noStrike" cap="none"/>
            </a:lvl5pPr>
            <a:lvl6pPr marL="0" marR="0" lvl="5" indent="69850" algn="l" rtl="0">
              <a:spcBef>
                <a:spcPts val="0"/>
              </a:spcBef>
              <a:buSzPct val="100000"/>
              <a:buFont typeface="Arial"/>
              <a:buChar char="■"/>
              <a:defRPr sz="1100" b="0" i="0" u="none" strike="noStrike" cap="none"/>
            </a:lvl6pPr>
            <a:lvl7pPr marL="0" marR="0" lvl="6" indent="69850" algn="l" rtl="0">
              <a:spcBef>
                <a:spcPts val="0"/>
              </a:spcBef>
              <a:buSzPct val="100000"/>
              <a:buFont typeface="Arial"/>
              <a:buChar char="●"/>
              <a:defRPr sz="1100" b="0" i="0" u="none" strike="noStrike" cap="none"/>
            </a:lvl7pPr>
            <a:lvl8pPr marL="0" marR="0" lvl="7" indent="69850" algn="l" rtl="0">
              <a:spcBef>
                <a:spcPts val="0"/>
              </a:spcBef>
              <a:buSzPct val="100000"/>
              <a:buFont typeface="Arial"/>
              <a:buChar char="○"/>
              <a:defRPr sz="1100" b="0" i="0" u="none" strike="noStrike" cap="none"/>
            </a:lvl8pPr>
            <a:lvl9pPr marL="0" marR="0" lvl="8" indent="69850" algn="l" rtl="0">
              <a:spcBef>
                <a:spcPts val="0"/>
              </a:spcBef>
              <a:buSzPct val="100000"/>
              <a:buFont typeface="Arial"/>
              <a:buChar char="■"/>
              <a:defRPr sz="1100" b="0" i="0" u="none" strike="noStrike" cap="none"/>
            </a:lvl9pPr>
          </a:lstStyle>
          <a:p>
            <a:endParaRPr/>
          </a:p>
        </p:txBody>
      </p:sp>
    </p:spTree>
    <p:extLst>
      <p:ext uri="{BB962C8B-B14F-4D97-AF65-F5344CB8AC3E}">
        <p14:creationId xmlns:p14="http://schemas.microsoft.com/office/powerpoint/2010/main" val="66895097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 name="Shape 64"/>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 name="Shape 64"/>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2" name="Shape 82"/>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a:noFill/>
          <a:ln>
            <a:noFill/>
          </a:ln>
        </p:spPr>
        <p:txBody>
          <a:bodyPr wrap="square"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600" cy="792600"/>
          </a:xfrm>
          <a:prstGeom prst="rect">
            <a:avLst/>
          </a:prstGeom>
          <a:noFill/>
          <a:ln>
            <a:noFill/>
          </a:ln>
        </p:spPr>
        <p:txBody>
          <a:bodyPr wrap="square" lIns="91425" tIns="91425" rIns="91425" bIns="91425" anchor="t" anchorCtr="0"/>
          <a:lstStyle>
            <a:lvl1pPr marL="0" marR="0" lvl="0"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1pPr>
            <a:lvl2pPr marL="0" marR="0" lvl="1"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2pPr>
            <a:lvl3pPr marL="0" marR="0" lvl="2"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3pPr>
            <a:lvl4pPr marL="0" marR="0" lvl="3"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4pPr>
            <a:lvl5pPr marL="0" marR="0" lvl="4"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5pPr>
            <a:lvl6pPr marL="0" marR="0" lvl="5"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6pPr>
            <a:lvl7pPr marL="0" marR="0" lvl="6"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7pPr>
            <a:lvl8pPr marL="0" marR="0" lvl="7"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8pPr>
            <a:lvl9pPr marL="0" marR="0" lvl="8" indent="0" algn="ctr" rtl="0">
              <a:lnSpc>
                <a:spcPct val="100000"/>
              </a:lnSpc>
              <a:spcBef>
                <a:spcPts val="0"/>
              </a:spcBef>
              <a:spcAft>
                <a:spcPts val="0"/>
              </a:spcAft>
              <a:buClr>
                <a:schemeClr val="dk2"/>
              </a:buClr>
              <a:buFont typeface="Arial"/>
              <a:buNone/>
              <a:defRPr sz="2800" b="0" i="0" u="none" strike="noStrike" cap="none">
                <a:solidFill>
                  <a:schemeClr val="dk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15" name="Shape 15"/>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6" name="Shape 16"/>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311700" y="2150850"/>
            <a:ext cx="8520600" cy="841800"/>
          </a:xfrm>
          <a:prstGeom prst="rect">
            <a:avLst/>
          </a:prstGeom>
          <a:noFill/>
          <a:ln>
            <a:noFill/>
          </a:ln>
        </p:spPr>
        <p:txBody>
          <a:bodyPr wrap="square" lIns="91425" tIns="91425" rIns="91425" bIns="91425" anchor="ctr" anchorCtr="0"/>
          <a:lstStyle>
            <a:lvl1pPr marL="0" marR="0" lvl="0" indent="0" algn="ctr" rtl="0">
              <a:lnSpc>
                <a:spcPct val="100000"/>
              </a:lnSpc>
              <a:spcBef>
                <a:spcPts val="0"/>
              </a:spcBef>
              <a:spcAft>
                <a:spcPts val="0"/>
              </a:spcAft>
              <a:buClr>
                <a:schemeClr val="dk1"/>
              </a:buClr>
              <a:buFont typeface="Arial"/>
              <a:buNone/>
              <a:defRPr sz="36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3600">
                <a:solidFill>
                  <a:schemeClr val="dk1"/>
                </a:solidFill>
              </a:defRPr>
            </a:lvl2pPr>
            <a:lvl3pPr lvl="2" indent="0" algn="ctr">
              <a:spcBef>
                <a:spcPts val="0"/>
              </a:spcBef>
              <a:buClr>
                <a:schemeClr val="dk1"/>
              </a:buClr>
              <a:buFont typeface="Arial"/>
              <a:buNone/>
              <a:defRPr sz="3600">
                <a:solidFill>
                  <a:schemeClr val="dk1"/>
                </a:solidFill>
              </a:defRPr>
            </a:lvl3pPr>
            <a:lvl4pPr lvl="3" indent="0" algn="ctr">
              <a:spcBef>
                <a:spcPts val="0"/>
              </a:spcBef>
              <a:buClr>
                <a:schemeClr val="dk1"/>
              </a:buClr>
              <a:buFont typeface="Arial"/>
              <a:buNone/>
              <a:defRPr sz="3600">
                <a:solidFill>
                  <a:schemeClr val="dk1"/>
                </a:solidFill>
              </a:defRPr>
            </a:lvl4pPr>
            <a:lvl5pPr lvl="4" indent="0" algn="ctr">
              <a:spcBef>
                <a:spcPts val="0"/>
              </a:spcBef>
              <a:buClr>
                <a:schemeClr val="dk1"/>
              </a:buClr>
              <a:buFont typeface="Arial"/>
              <a:buNone/>
              <a:defRPr sz="3600">
                <a:solidFill>
                  <a:schemeClr val="dk1"/>
                </a:solidFill>
              </a:defRPr>
            </a:lvl5pPr>
            <a:lvl6pPr lvl="5" indent="0" algn="ctr">
              <a:spcBef>
                <a:spcPts val="0"/>
              </a:spcBef>
              <a:buClr>
                <a:schemeClr val="dk1"/>
              </a:buClr>
              <a:buFont typeface="Arial"/>
              <a:buNone/>
              <a:defRPr sz="3600">
                <a:solidFill>
                  <a:schemeClr val="dk1"/>
                </a:solidFill>
              </a:defRPr>
            </a:lvl6pPr>
            <a:lvl7pPr lvl="6" indent="0" algn="ctr">
              <a:spcBef>
                <a:spcPts val="0"/>
              </a:spcBef>
              <a:buClr>
                <a:schemeClr val="dk1"/>
              </a:buClr>
              <a:buFont typeface="Arial"/>
              <a:buNone/>
              <a:defRPr sz="3600">
                <a:solidFill>
                  <a:schemeClr val="dk1"/>
                </a:solidFill>
              </a:defRPr>
            </a:lvl7pPr>
            <a:lvl8pPr lvl="7" indent="0" algn="ctr">
              <a:spcBef>
                <a:spcPts val="0"/>
              </a:spcBef>
              <a:buClr>
                <a:schemeClr val="dk1"/>
              </a:buClr>
              <a:buFont typeface="Arial"/>
              <a:buNone/>
              <a:defRPr sz="3600">
                <a:solidFill>
                  <a:schemeClr val="dk1"/>
                </a:solidFill>
              </a:defRPr>
            </a:lvl8pPr>
            <a:lvl9pPr lvl="8" indent="0" algn="ctr">
              <a:spcBef>
                <a:spcPts val="0"/>
              </a:spcBef>
              <a:buClr>
                <a:schemeClr val="dk1"/>
              </a:buClr>
              <a:buFont typeface="Arial"/>
              <a:buNone/>
              <a:defRPr sz="3600">
                <a:solidFill>
                  <a:schemeClr val="dk1"/>
                </a:solidFill>
              </a:defRPr>
            </a:lvl9pPr>
          </a:lstStyle>
          <a:p>
            <a:endParaRPr/>
          </a:p>
        </p:txBody>
      </p:sp>
      <p:sp>
        <p:nvSpPr>
          <p:cNvPr id="19" name="Shape 19"/>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22" name="Shape 22"/>
          <p:cNvSpPr txBox="1">
            <a:spLocks noGrp="1"/>
          </p:cNvSpPr>
          <p:nvPr>
            <p:ph type="body" idx="1"/>
          </p:nvPr>
        </p:nvSpPr>
        <p:spPr>
          <a:xfrm>
            <a:off x="311700" y="1152475"/>
            <a:ext cx="3999900" cy="3416400"/>
          </a:xfrm>
          <a:prstGeom prst="rect">
            <a:avLst/>
          </a:prstGeom>
          <a:noFill/>
          <a:ln>
            <a:noFill/>
          </a:ln>
        </p:spPr>
        <p:txBody>
          <a:bodyPr wrap="square" lIns="91425" tIns="91425" rIns="91425" bIns="91425" anchor="t" anchorCtr="0"/>
          <a:lstStyle>
            <a:lvl1pPr marL="0" marR="0" lvl="0"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1pPr>
            <a:lvl2pPr marL="0" marR="0" lvl="1"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2pPr>
            <a:lvl3pPr marL="0" marR="0" lvl="2"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3pPr>
            <a:lvl4pPr marL="0" marR="0" lvl="3"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4pPr>
            <a:lvl5pPr marL="0" marR="0" lvl="4"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5pPr>
            <a:lvl6pPr marL="0" marR="0" lvl="5"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6pPr>
            <a:lvl7pPr marL="0" marR="0" lvl="6"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7pPr>
            <a:lvl8pPr marL="0" marR="0" lvl="7"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8pPr>
            <a:lvl9pPr marL="0" marR="0" lvl="8"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23" name="Shape 23"/>
          <p:cNvSpPr txBox="1">
            <a:spLocks noGrp="1"/>
          </p:cNvSpPr>
          <p:nvPr>
            <p:ph type="body" idx="2"/>
          </p:nvPr>
        </p:nvSpPr>
        <p:spPr>
          <a:xfrm>
            <a:off x="4832400" y="1152475"/>
            <a:ext cx="3999900" cy="3416400"/>
          </a:xfrm>
          <a:prstGeom prst="rect">
            <a:avLst/>
          </a:prstGeom>
          <a:noFill/>
          <a:ln>
            <a:noFill/>
          </a:ln>
        </p:spPr>
        <p:txBody>
          <a:bodyPr wrap="square" lIns="91425" tIns="91425" rIns="91425" bIns="91425" anchor="t" anchorCtr="0"/>
          <a:lstStyle>
            <a:lvl1pPr marL="0" marR="0" lvl="0"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1pPr>
            <a:lvl2pPr marL="0" marR="0" lvl="1"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2pPr>
            <a:lvl3pPr marL="0" marR="0" lvl="2"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3pPr>
            <a:lvl4pPr marL="0" marR="0" lvl="3"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4pPr>
            <a:lvl5pPr marL="0" marR="0" lvl="4"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5pPr>
            <a:lvl6pPr marL="0" marR="0" lvl="5"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6pPr>
            <a:lvl7pPr marL="0" marR="0" lvl="6"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7pPr>
            <a:lvl8pPr marL="0" marR="0" lvl="7"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8pPr>
            <a:lvl9pPr marL="0" marR="0" lvl="8"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24" name="Shape 24"/>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27" name="Shape 27"/>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a:noFill/>
          <a:ln>
            <a:noFill/>
          </a:ln>
        </p:spPr>
        <p:txBody>
          <a:bodyPr wrap="square" lIns="91425" tIns="91425" rIns="91425" bIns="91425" anchor="b" anchorCtr="0"/>
          <a:lstStyle>
            <a:lvl1pPr marL="0" marR="0" lvl="0" indent="0" algn="l" rtl="0">
              <a:lnSpc>
                <a:spcPct val="100000"/>
              </a:lnSpc>
              <a:spcBef>
                <a:spcPts val="0"/>
              </a:spcBef>
              <a:spcAft>
                <a:spcPts val="0"/>
              </a:spcAft>
              <a:buClr>
                <a:schemeClr val="dk1"/>
              </a:buClr>
              <a:buFont typeface="Arial"/>
              <a:buNone/>
              <a:defRPr sz="24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400">
                <a:solidFill>
                  <a:schemeClr val="dk1"/>
                </a:solidFill>
              </a:defRPr>
            </a:lvl2pPr>
            <a:lvl3pPr lvl="2" indent="0">
              <a:spcBef>
                <a:spcPts val="0"/>
              </a:spcBef>
              <a:buClr>
                <a:schemeClr val="dk1"/>
              </a:buClr>
              <a:buFont typeface="Arial"/>
              <a:buNone/>
              <a:defRPr sz="2400">
                <a:solidFill>
                  <a:schemeClr val="dk1"/>
                </a:solidFill>
              </a:defRPr>
            </a:lvl3pPr>
            <a:lvl4pPr lvl="3" indent="0">
              <a:spcBef>
                <a:spcPts val="0"/>
              </a:spcBef>
              <a:buClr>
                <a:schemeClr val="dk1"/>
              </a:buClr>
              <a:buFont typeface="Arial"/>
              <a:buNone/>
              <a:defRPr sz="2400">
                <a:solidFill>
                  <a:schemeClr val="dk1"/>
                </a:solidFill>
              </a:defRPr>
            </a:lvl4pPr>
            <a:lvl5pPr lvl="4" indent="0">
              <a:spcBef>
                <a:spcPts val="0"/>
              </a:spcBef>
              <a:buClr>
                <a:schemeClr val="dk1"/>
              </a:buClr>
              <a:buFont typeface="Arial"/>
              <a:buNone/>
              <a:defRPr sz="2400">
                <a:solidFill>
                  <a:schemeClr val="dk1"/>
                </a:solidFill>
              </a:defRPr>
            </a:lvl5pPr>
            <a:lvl6pPr lvl="5" indent="0">
              <a:spcBef>
                <a:spcPts val="0"/>
              </a:spcBef>
              <a:buClr>
                <a:schemeClr val="dk1"/>
              </a:buClr>
              <a:buFont typeface="Arial"/>
              <a:buNone/>
              <a:defRPr sz="2400">
                <a:solidFill>
                  <a:schemeClr val="dk1"/>
                </a:solidFill>
              </a:defRPr>
            </a:lvl6pPr>
            <a:lvl7pPr lvl="6" indent="0">
              <a:spcBef>
                <a:spcPts val="0"/>
              </a:spcBef>
              <a:buClr>
                <a:schemeClr val="dk1"/>
              </a:buClr>
              <a:buFont typeface="Arial"/>
              <a:buNone/>
              <a:defRPr sz="2400">
                <a:solidFill>
                  <a:schemeClr val="dk1"/>
                </a:solidFill>
              </a:defRPr>
            </a:lvl7pPr>
            <a:lvl8pPr lvl="7" indent="0">
              <a:spcBef>
                <a:spcPts val="0"/>
              </a:spcBef>
              <a:buClr>
                <a:schemeClr val="dk1"/>
              </a:buClr>
              <a:buFont typeface="Arial"/>
              <a:buNone/>
              <a:defRPr sz="2400">
                <a:solidFill>
                  <a:schemeClr val="dk1"/>
                </a:solidFill>
              </a:defRPr>
            </a:lvl8pPr>
            <a:lvl9pPr lvl="8" indent="0">
              <a:spcBef>
                <a:spcPts val="0"/>
              </a:spcBef>
              <a:buClr>
                <a:schemeClr val="dk1"/>
              </a:buClr>
              <a:buFont typeface="Arial"/>
              <a:buNone/>
              <a:defRPr sz="2400">
                <a:solidFill>
                  <a:schemeClr val="dk1"/>
                </a:solidFill>
              </a:defRPr>
            </a:lvl9pPr>
          </a:lstStyle>
          <a:p>
            <a:endParaRPr/>
          </a:p>
        </p:txBody>
      </p:sp>
      <p:sp>
        <p:nvSpPr>
          <p:cNvPr id="30" name="Shape 30"/>
          <p:cNvSpPr txBox="1">
            <a:spLocks noGrp="1"/>
          </p:cNvSpPr>
          <p:nvPr>
            <p:ph type="body" idx="1"/>
          </p:nvPr>
        </p:nvSpPr>
        <p:spPr>
          <a:xfrm>
            <a:off x="311700" y="1389600"/>
            <a:ext cx="2808000" cy="3179400"/>
          </a:xfrm>
          <a:prstGeom prst="rect">
            <a:avLst/>
          </a:prstGeom>
          <a:noFill/>
          <a:ln>
            <a:noFill/>
          </a:ln>
        </p:spPr>
        <p:txBody>
          <a:bodyPr wrap="square" lIns="91425" tIns="91425" rIns="91425" bIns="91425" anchor="t" anchorCtr="0"/>
          <a:lstStyle>
            <a:lvl1pPr marL="0" marR="0" lvl="0"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1pPr>
            <a:lvl2pPr marL="0" marR="0" lvl="1"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2pPr>
            <a:lvl3pPr marL="0" marR="0" lvl="2"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3pPr>
            <a:lvl4pPr marL="0" marR="0" lvl="3"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4pPr>
            <a:lvl5pPr marL="0" marR="0" lvl="4"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5pPr>
            <a:lvl6pPr marL="0" marR="0" lvl="5"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6pPr>
            <a:lvl7pPr marL="0" marR="0" lvl="6"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7pPr>
            <a:lvl8pPr marL="0" marR="0" lvl="7"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8pPr>
            <a:lvl9pPr marL="0" marR="0" lvl="8" indent="76200" algn="l" rtl="0">
              <a:lnSpc>
                <a:spcPct val="115000"/>
              </a:lnSpc>
              <a:spcBef>
                <a:spcPts val="0"/>
              </a:spcBef>
              <a:spcAft>
                <a:spcPts val="1600"/>
              </a:spcAft>
              <a:buClr>
                <a:schemeClr val="dk2"/>
              </a:buClr>
              <a:buSzPct val="1000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31" name="Shape 31"/>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a:noFill/>
          <a:ln>
            <a:noFill/>
          </a:ln>
        </p:spPr>
        <p:txBody>
          <a:bodyPr wrap="square" lIns="91425" tIns="91425" rIns="91425" bIns="91425" anchor="ctr" anchorCtr="0"/>
          <a:lstStyle>
            <a:lvl1pPr marL="0" marR="0" lvl="0" indent="0" algn="l" rtl="0">
              <a:lnSpc>
                <a:spcPct val="100000"/>
              </a:lnSpc>
              <a:spcBef>
                <a:spcPts val="0"/>
              </a:spcBef>
              <a:spcAft>
                <a:spcPts val="0"/>
              </a:spcAft>
              <a:buClr>
                <a:schemeClr val="dk1"/>
              </a:buClr>
              <a:buFont typeface="Arial"/>
              <a:buNone/>
              <a:defRPr sz="4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4800">
                <a:solidFill>
                  <a:schemeClr val="dk1"/>
                </a:solidFill>
              </a:defRPr>
            </a:lvl2pPr>
            <a:lvl3pPr lvl="2" indent="0">
              <a:spcBef>
                <a:spcPts val="0"/>
              </a:spcBef>
              <a:buClr>
                <a:schemeClr val="dk1"/>
              </a:buClr>
              <a:buFont typeface="Arial"/>
              <a:buNone/>
              <a:defRPr sz="4800">
                <a:solidFill>
                  <a:schemeClr val="dk1"/>
                </a:solidFill>
              </a:defRPr>
            </a:lvl3pPr>
            <a:lvl4pPr lvl="3" indent="0">
              <a:spcBef>
                <a:spcPts val="0"/>
              </a:spcBef>
              <a:buClr>
                <a:schemeClr val="dk1"/>
              </a:buClr>
              <a:buFont typeface="Arial"/>
              <a:buNone/>
              <a:defRPr sz="4800">
                <a:solidFill>
                  <a:schemeClr val="dk1"/>
                </a:solidFill>
              </a:defRPr>
            </a:lvl4pPr>
            <a:lvl5pPr lvl="4" indent="0">
              <a:spcBef>
                <a:spcPts val="0"/>
              </a:spcBef>
              <a:buClr>
                <a:schemeClr val="dk1"/>
              </a:buClr>
              <a:buFont typeface="Arial"/>
              <a:buNone/>
              <a:defRPr sz="4800">
                <a:solidFill>
                  <a:schemeClr val="dk1"/>
                </a:solidFill>
              </a:defRPr>
            </a:lvl5pPr>
            <a:lvl6pPr lvl="5" indent="0">
              <a:spcBef>
                <a:spcPts val="0"/>
              </a:spcBef>
              <a:buClr>
                <a:schemeClr val="dk1"/>
              </a:buClr>
              <a:buFont typeface="Arial"/>
              <a:buNone/>
              <a:defRPr sz="4800">
                <a:solidFill>
                  <a:schemeClr val="dk1"/>
                </a:solidFill>
              </a:defRPr>
            </a:lvl6pPr>
            <a:lvl7pPr lvl="6" indent="0">
              <a:spcBef>
                <a:spcPts val="0"/>
              </a:spcBef>
              <a:buClr>
                <a:schemeClr val="dk1"/>
              </a:buClr>
              <a:buFont typeface="Arial"/>
              <a:buNone/>
              <a:defRPr sz="4800">
                <a:solidFill>
                  <a:schemeClr val="dk1"/>
                </a:solidFill>
              </a:defRPr>
            </a:lvl7pPr>
            <a:lvl8pPr lvl="7" indent="0">
              <a:spcBef>
                <a:spcPts val="0"/>
              </a:spcBef>
              <a:buClr>
                <a:schemeClr val="dk1"/>
              </a:buClr>
              <a:buFont typeface="Arial"/>
              <a:buNone/>
              <a:defRPr sz="4800">
                <a:solidFill>
                  <a:schemeClr val="dk1"/>
                </a:solidFill>
              </a:defRPr>
            </a:lvl8pPr>
            <a:lvl9pPr lvl="8" indent="0">
              <a:spcBef>
                <a:spcPts val="0"/>
              </a:spcBef>
              <a:buClr>
                <a:schemeClr val="dk1"/>
              </a:buClr>
              <a:buFont typeface="Arial"/>
              <a:buNone/>
              <a:defRPr sz="4800">
                <a:solidFill>
                  <a:schemeClr val="dk1"/>
                </a:solidFill>
              </a:defRPr>
            </a:lvl9pPr>
          </a:lstStyle>
          <a:p>
            <a:endParaRPr/>
          </a:p>
        </p:txBody>
      </p:sp>
      <p:sp>
        <p:nvSpPr>
          <p:cNvPr id="34" name="Shape 34"/>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37" name="Shape 37"/>
          <p:cNvSpPr txBox="1">
            <a:spLocks noGrp="1"/>
          </p:cNvSpPr>
          <p:nvPr>
            <p:ph type="title"/>
          </p:nvPr>
        </p:nvSpPr>
        <p:spPr>
          <a:xfrm>
            <a:off x="265500" y="1233175"/>
            <a:ext cx="4045200" cy="1482300"/>
          </a:xfrm>
          <a:prstGeom prst="rect">
            <a:avLst/>
          </a:prstGeom>
          <a:noFill/>
          <a:ln>
            <a:noFill/>
          </a:ln>
        </p:spPr>
        <p:txBody>
          <a:bodyPr wrap="square" lIns="91425" tIns="91425" rIns="91425" bIns="91425" anchor="b" anchorCtr="0"/>
          <a:lstStyle>
            <a:lvl1pPr marL="0" marR="0" lvl="0" indent="0" algn="ctr" rtl="0">
              <a:lnSpc>
                <a:spcPct val="100000"/>
              </a:lnSpc>
              <a:spcBef>
                <a:spcPts val="0"/>
              </a:spcBef>
              <a:spcAft>
                <a:spcPts val="0"/>
              </a:spcAft>
              <a:buClr>
                <a:schemeClr val="dk1"/>
              </a:buClr>
              <a:buFont typeface="Arial"/>
              <a:buNone/>
              <a:defRPr sz="4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4200">
                <a:solidFill>
                  <a:schemeClr val="dk1"/>
                </a:solidFill>
              </a:defRPr>
            </a:lvl2pPr>
            <a:lvl3pPr lvl="2" indent="0" algn="ctr">
              <a:spcBef>
                <a:spcPts val="0"/>
              </a:spcBef>
              <a:buClr>
                <a:schemeClr val="dk1"/>
              </a:buClr>
              <a:buFont typeface="Arial"/>
              <a:buNone/>
              <a:defRPr sz="4200">
                <a:solidFill>
                  <a:schemeClr val="dk1"/>
                </a:solidFill>
              </a:defRPr>
            </a:lvl3pPr>
            <a:lvl4pPr lvl="3" indent="0" algn="ctr">
              <a:spcBef>
                <a:spcPts val="0"/>
              </a:spcBef>
              <a:buClr>
                <a:schemeClr val="dk1"/>
              </a:buClr>
              <a:buFont typeface="Arial"/>
              <a:buNone/>
              <a:defRPr sz="4200">
                <a:solidFill>
                  <a:schemeClr val="dk1"/>
                </a:solidFill>
              </a:defRPr>
            </a:lvl4pPr>
            <a:lvl5pPr lvl="4" indent="0" algn="ctr">
              <a:spcBef>
                <a:spcPts val="0"/>
              </a:spcBef>
              <a:buClr>
                <a:schemeClr val="dk1"/>
              </a:buClr>
              <a:buFont typeface="Arial"/>
              <a:buNone/>
              <a:defRPr sz="4200">
                <a:solidFill>
                  <a:schemeClr val="dk1"/>
                </a:solidFill>
              </a:defRPr>
            </a:lvl5pPr>
            <a:lvl6pPr lvl="5" indent="0" algn="ctr">
              <a:spcBef>
                <a:spcPts val="0"/>
              </a:spcBef>
              <a:buClr>
                <a:schemeClr val="dk1"/>
              </a:buClr>
              <a:buFont typeface="Arial"/>
              <a:buNone/>
              <a:defRPr sz="4200">
                <a:solidFill>
                  <a:schemeClr val="dk1"/>
                </a:solidFill>
              </a:defRPr>
            </a:lvl6pPr>
            <a:lvl7pPr lvl="6" indent="0" algn="ctr">
              <a:spcBef>
                <a:spcPts val="0"/>
              </a:spcBef>
              <a:buClr>
                <a:schemeClr val="dk1"/>
              </a:buClr>
              <a:buFont typeface="Arial"/>
              <a:buNone/>
              <a:defRPr sz="4200">
                <a:solidFill>
                  <a:schemeClr val="dk1"/>
                </a:solidFill>
              </a:defRPr>
            </a:lvl7pPr>
            <a:lvl8pPr lvl="7" indent="0" algn="ctr">
              <a:spcBef>
                <a:spcPts val="0"/>
              </a:spcBef>
              <a:buClr>
                <a:schemeClr val="dk1"/>
              </a:buClr>
              <a:buFont typeface="Arial"/>
              <a:buNone/>
              <a:defRPr sz="4200">
                <a:solidFill>
                  <a:schemeClr val="dk1"/>
                </a:solidFill>
              </a:defRPr>
            </a:lvl8pPr>
            <a:lvl9pPr lvl="8" indent="0" algn="ctr">
              <a:spcBef>
                <a:spcPts val="0"/>
              </a:spcBef>
              <a:buClr>
                <a:schemeClr val="dk1"/>
              </a:buClr>
              <a:buFont typeface="Arial"/>
              <a:buNone/>
              <a:defRPr sz="4200">
                <a:solidFill>
                  <a:schemeClr val="dk1"/>
                </a:solidFill>
              </a:defRPr>
            </a:lvl9pPr>
          </a:lstStyle>
          <a:p>
            <a:endParaRPr/>
          </a:p>
        </p:txBody>
      </p:sp>
      <p:sp>
        <p:nvSpPr>
          <p:cNvPr id="38" name="Shape 38"/>
          <p:cNvSpPr txBox="1">
            <a:spLocks noGrp="1"/>
          </p:cNvSpPr>
          <p:nvPr>
            <p:ph type="subTitle" idx="1"/>
          </p:nvPr>
        </p:nvSpPr>
        <p:spPr>
          <a:xfrm>
            <a:off x="265500" y="2803075"/>
            <a:ext cx="4045200" cy="1235100"/>
          </a:xfrm>
          <a:prstGeom prst="rect">
            <a:avLst/>
          </a:prstGeom>
          <a:noFill/>
          <a:ln>
            <a:noFill/>
          </a:ln>
        </p:spPr>
        <p:txBody>
          <a:bodyPr wrap="square" lIns="91425" tIns="91425" rIns="91425" bIns="91425" anchor="t" anchorCtr="0"/>
          <a:lstStyle>
            <a:lvl1pPr marL="0" marR="0" lvl="0"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1pPr>
            <a:lvl2pPr marL="0" marR="0" lvl="1"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2pPr>
            <a:lvl3pPr marL="0" marR="0" lvl="2"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3pPr>
            <a:lvl4pPr marL="0" marR="0" lvl="3"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4pPr>
            <a:lvl5pPr marL="0" marR="0" lvl="4"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5pPr>
            <a:lvl6pPr marL="0" marR="0" lvl="5"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6pPr>
            <a:lvl7pPr marL="0" marR="0" lvl="6"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7pPr>
            <a:lvl8pPr marL="0" marR="0" lvl="7"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8pPr>
            <a:lvl9pPr marL="0" marR="0" lvl="8" indent="0" algn="ctr" rtl="0">
              <a:lnSpc>
                <a:spcPct val="100000"/>
              </a:lnSpc>
              <a:spcBef>
                <a:spcPts val="0"/>
              </a:spcBef>
              <a:spcAft>
                <a:spcPts val="0"/>
              </a:spcAft>
              <a:buClr>
                <a:schemeClr val="dk2"/>
              </a:buClr>
              <a:buFont typeface="Arial"/>
              <a:buNone/>
              <a:defRPr sz="2100" b="0" i="0" u="none" strike="noStrike" cap="none">
                <a:solidFill>
                  <a:schemeClr val="dk2"/>
                </a:solidFill>
                <a:latin typeface="Arial"/>
                <a:ea typeface="Arial"/>
                <a:cs typeface="Arial"/>
                <a:sym typeface="Arial"/>
              </a:defRPr>
            </a:lvl9pPr>
          </a:lstStyle>
          <a:p>
            <a:endParaRPr/>
          </a:p>
        </p:txBody>
      </p:sp>
      <p:sp>
        <p:nvSpPr>
          <p:cNvPr id="39" name="Shape 39"/>
          <p:cNvSpPr txBox="1">
            <a:spLocks noGrp="1"/>
          </p:cNvSpPr>
          <p:nvPr>
            <p:ph type="body" idx="2"/>
          </p:nvPr>
        </p:nvSpPr>
        <p:spPr>
          <a:xfrm>
            <a:off x="4939500" y="724075"/>
            <a:ext cx="3837000" cy="3695100"/>
          </a:xfrm>
          <a:prstGeom prst="rect">
            <a:avLst/>
          </a:prstGeom>
          <a:noFill/>
          <a:ln>
            <a:noFill/>
          </a:ln>
        </p:spPr>
        <p:txBody>
          <a:bodyPr wrap="square" lIns="91425" tIns="91425" rIns="91425" bIns="91425" anchor="ctr" anchorCtr="0"/>
          <a:lstStyle>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0" name="Shape 40"/>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a:noFill/>
          <a:ln>
            <a:noFill/>
          </a:ln>
        </p:spPr>
        <p:txBody>
          <a:bodyPr wrap="square" lIns="91425" tIns="91425" rIns="91425" bIns="91425" anchor="ctr" anchorCtr="0"/>
          <a:lstStyle>
            <a:lvl1pPr marL="0" marR="0" lvl="0" indent="0" algn="l" rtl="0">
              <a:lnSpc>
                <a:spcPct val="100000"/>
              </a:lnSpc>
              <a:spcBef>
                <a:spcPts val="0"/>
              </a:spcBef>
              <a:spcAft>
                <a:spcPts val="0"/>
              </a:spcAft>
              <a:buClr>
                <a:schemeClr val="dk2"/>
              </a:buClr>
              <a:buFont typeface="Arial"/>
              <a:buNone/>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3" name="Shape 43"/>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a:noFill/>
          <a:ln>
            <a:noFill/>
          </a:ln>
        </p:spPr>
        <p:txBody>
          <a:bodyPr wrap="square" lIns="91425" tIns="91425" rIns="91425" bIns="91425" anchor="b" anchorCtr="0"/>
          <a:lstStyle>
            <a:lvl1pPr marL="0" marR="0" lvl="0" indent="0" algn="ctr" rtl="0">
              <a:lnSpc>
                <a:spcPct val="100000"/>
              </a:lnSpc>
              <a:spcBef>
                <a:spcPts val="0"/>
              </a:spcBef>
              <a:spcAft>
                <a:spcPts val="0"/>
              </a:spcAft>
              <a:buClr>
                <a:schemeClr val="dk1"/>
              </a:buClr>
              <a:buFont typeface="Arial"/>
              <a:buNone/>
              <a:defRPr sz="120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12000">
                <a:solidFill>
                  <a:schemeClr val="dk1"/>
                </a:solidFill>
              </a:defRPr>
            </a:lvl2pPr>
            <a:lvl3pPr lvl="2" indent="0" algn="ctr">
              <a:spcBef>
                <a:spcPts val="0"/>
              </a:spcBef>
              <a:buClr>
                <a:schemeClr val="dk1"/>
              </a:buClr>
              <a:buFont typeface="Arial"/>
              <a:buNone/>
              <a:defRPr sz="12000">
                <a:solidFill>
                  <a:schemeClr val="dk1"/>
                </a:solidFill>
              </a:defRPr>
            </a:lvl3pPr>
            <a:lvl4pPr lvl="3" indent="0" algn="ctr">
              <a:spcBef>
                <a:spcPts val="0"/>
              </a:spcBef>
              <a:buClr>
                <a:schemeClr val="dk1"/>
              </a:buClr>
              <a:buFont typeface="Arial"/>
              <a:buNone/>
              <a:defRPr sz="12000">
                <a:solidFill>
                  <a:schemeClr val="dk1"/>
                </a:solidFill>
              </a:defRPr>
            </a:lvl4pPr>
            <a:lvl5pPr lvl="4" indent="0" algn="ctr">
              <a:spcBef>
                <a:spcPts val="0"/>
              </a:spcBef>
              <a:buClr>
                <a:schemeClr val="dk1"/>
              </a:buClr>
              <a:buFont typeface="Arial"/>
              <a:buNone/>
              <a:defRPr sz="12000">
                <a:solidFill>
                  <a:schemeClr val="dk1"/>
                </a:solidFill>
              </a:defRPr>
            </a:lvl5pPr>
            <a:lvl6pPr lvl="5" indent="0" algn="ctr">
              <a:spcBef>
                <a:spcPts val="0"/>
              </a:spcBef>
              <a:buClr>
                <a:schemeClr val="dk1"/>
              </a:buClr>
              <a:buFont typeface="Arial"/>
              <a:buNone/>
              <a:defRPr sz="12000">
                <a:solidFill>
                  <a:schemeClr val="dk1"/>
                </a:solidFill>
              </a:defRPr>
            </a:lvl6pPr>
            <a:lvl7pPr lvl="6" indent="0" algn="ctr">
              <a:spcBef>
                <a:spcPts val="0"/>
              </a:spcBef>
              <a:buClr>
                <a:schemeClr val="dk1"/>
              </a:buClr>
              <a:buFont typeface="Arial"/>
              <a:buNone/>
              <a:defRPr sz="12000">
                <a:solidFill>
                  <a:schemeClr val="dk1"/>
                </a:solidFill>
              </a:defRPr>
            </a:lvl7pPr>
            <a:lvl8pPr lvl="7" indent="0" algn="ctr">
              <a:spcBef>
                <a:spcPts val="0"/>
              </a:spcBef>
              <a:buClr>
                <a:schemeClr val="dk1"/>
              </a:buClr>
              <a:buFont typeface="Arial"/>
              <a:buNone/>
              <a:defRPr sz="12000">
                <a:solidFill>
                  <a:schemeClr val="dk1"/>
                </a:solidFill>
              </a:defRPr>
            </a:lvl8pPr>
            <a:lvl9pPr lvl="8" indent="0" algn="ctr">
              <a:spcBef>
                <a:spcPts val="0"/>
              </a:spcBef>
              <a:buClr>
                <a:schemeClr val="dk1"/>
              </a:buClr>
              <a:buFont typeface="Arial"/>
              <a:buNone/>
              <a:defRPr sz="12000">
                <a:solidFill>
                  <a:schemeClr val="dk1"/>
                </a:solidFill>
              </a:defRPr>
            </a:lvl9pPr>
          </a:lstStyle>
          <a:p>
            <a:endParaRPr/>
          </a:p>
        </p:txBody>
      </p:sp>
      <p:sp>
        <p:nvSpPr>
          <p:cNvPr id="46" name="Shape 46"/>
          <p:cNvSpPr txBox="1">
            <a:spLocks noGrp="1"/>
          </p:cNvSpPr>
          <p:nvPr>
            <p:ph type="body" idx="1"/>
          </p:nvPr>
        </p:nvSpPr>
        <p:spPr>
          <a:xfrm>
            <a:off x="311700" y="3152225"/>
            <a:ext cx="8520600" cy="1300800"/>
          </a:xfrm>
          <a:prstGeom prst="rect">
            <a:avLst/>
          </a:prstGeom>
          <a:noFill/>
          <a:ln>
            <a:noFill/>
          </a:ln>
        </p:spPr>
        <p:txBody>
          <a:bodyPr wrap="square" lIns="91425" tIns="91425" rIns="91425" bIns="91425" anchor="t" anchorCtr="0"/>
          <a:lstStyle>
            <a:lvl1pPr marL="0" marR="0" lvl="0" indent="114300" algn="ctr"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ctr"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7" name="Shape 47"/>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wrap="square" lIns="91425" tIns="91425" rIns="91425" bIns="91425" anchor="ctr" anchorCtr="0">
            <a:noAutofit/>
          </a:bodyPr>
          <a:lstStyle/>
          <a:p>
            <a:pPr marL="0" marR="0" lvl="0" indent="0" algn="r" rtl="0">
              <a:lnSpc>
                <a:spcPct val="100000"/>
              </a:lnSpc>
              <a:spcBef>
                <a:spcPts val="0"/>
              </a:spcBef>
              <a:spcAft>
                <a:spcPts val="0"/>
              </a:spcAft>
              <a:buClr>
                <a:schemeClr val="dk2"/>
              </a:buClr>
              <a:buSzPct val="25000"/>
              <a:buFont typeface="Arial"/>
              <a:buNone/>
            </a:pPr>
            <a:fld id="{00000000-1234-1234-1234-123412341234}" type="slidenum">
              <a:rPr lang="en" sz="1000" b="0" i="0" u="none" strike="noStrike" cap="none">
                <a:solidFill>
                  <a:schemeClr val="dk2"/>
                </a:solidFill>
                <a:latin typeface="Arial"/>
                <a:ea typeface="Arial"/>
                <a:cs typeface="Arial"/>
                <a:sym typeface="Arial"/>
              </a:rPr>
              <a:t>‹#›</a:t>
            </a:fld>
            <a:endParaRPr lang="en" sz="1000" b="0" i="0" u="none" strike="noStrike" cap="none">
              <a:solidFill>
                <a:schemeClr val="dk2"/>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0" y="1577425"/>
            <a:ext cx="8520600" cy="1262100"/>
          </a:xfrm>
          <a:prstGeom prst="rect">
            <a:avLst/>
          </a:prstGeom>
          <a:noFill/>
          <a:ln>
            <a:noFill/>
          </a:ln>
        </p:spPr>
        <p:txBody>
          <a:bodyPr wrap="square" lIns="91425" tIns="91425" rIns="91425" bIns="91425" anchor="b" anchorCtr="0">
            <a:noAutofit/>
          </a:bodyPr>
          <a:lstStyle/>
          <a:p>
            <a:pPr lvl="0">
              <a:buSzPct val="25000"/>
            </a:pPr>
            <a:r>
              <a:rPr lang="en-US" sz="3600" dirty="0"/>
              <a:t>Binary model-wide measures</a:t>
            </a:r>
            <a:endParaRPr lang="en" sz="3600" b="0" i="0" u="none" strike="noStrike" cap="none" dirty="0">
              <a:solidFill>
                <a:schemeClr val="dk1"/>
              </a:solidFill>
              <a:latin typeface="Arial"/>
              <a:ea typeface="Arial"/>
              <a:cs typeface="Arial"/>
              <a:sym typeface="Arial"/>
            </a:endParaRPr>
          </a:p>
        </p:txBody>
      </p:sp>
      <p:sp>
        <p:nvSpPr>
          <p:cNvPr id="55" name="Shape 55"/>
          <p:cNvSpPr txBox="1">
            <a:spLocks noGrp="1"/>
          </p:cNvSpPr>
          <p:nvPr>
            <p:ph type="subTitle" idx="1"/>
          </p:nvPr>
        </p:nvSpPr>
        <p:spPr>
          <a:xfrm>
            <a:off x="311700" y="3313600"/>
            <a:ext cx="8520600" cy="1057200"/>
          </a:xfrm>
          <a:prstGeom prst="rect">
            <a:avLst/>
          </a:prstGeom>
          <a:noFill/>
          <a:ln>
            <a:noFill/>
          </a:ln>
        </p:spPr>
        <p:txBody>
          <a:bodyPr wrap="square" lIns="91425" tIns="91425" rIns="91425" bIns="91425" anchor="t" anchorCtr="0">
            <a:noAutofit/>
          </a:bodyPr>
          <a:lstStyle/>
          <a:p>
            <a:pPr marL="0" marR="0" lvl="0" indent="0" algn="ctr" rtl="0">
              <a:lnSpc>
                <a:spcPct val="100000"/>
              </a:lnSpc>
              <a:spcBef>
                <a:spcPts val="0"/>
              </a:spcBef>
              <a:spcAft>
                <a:spcPts val="0"/>
              </a:spcAft>
              <a:buClr>
                <a:schemeClr val="dk2"/>
              </a:buClr>
              <a:buSzPct val="25000"/>
              <a:buFont typeface="Arial"/>
              <a:buNone/>
            </a:pPr>
            <a:r>
              <a:rPr lang="ru-RU" dirty="0" smtClean="0"/>
              <a:t>Харитонов</a:t>
            </a:r>
            <a:r>
              <a:rPr lang="en" sz="2800" b="0" i="0" u="none" strike="noStrike" cap="none" dirty="0" smtClean="0">
                <a:solidFill>
                  <a:schemeClr val="dk2"/>
                </a:solidFill>
                <a:latin typeface="Arial"/>
                <a:ea typeface="Arial"/>
                <a:cs typeface="Arial"/>
                <a:sym typeface="Arial"/>
              </a:rPr>
              <a:t> </a:t>
            </a:r>
            <a:r>
              <a:rPr lang="ru-RU" dirty="0"/>
              <a:t>Е</a:t>
            </a:r>
            <a:r>
              <a:rPr lang="en" sz="2800" b="0" i="0" u="none" strike="noStrike" cap="none" dirty="0" smtClean="0">
                <a:solidFill>
                  <a:schemeClr val="dk2"/>
                </a:solidFill>
                <a:latin typeface="Arial"/>
                <a:ea typeface="Arial"/>
                <a:cs typeface="Arial"/>
                <a:sym typeface="Arial"/>
              </a:rPr>
              <a:t>.</a:t>
            </a:r>
            <a:r>
              <a:rPr lang="ru-RU" dirty="0"/>
              <a:t>А</a:t>
            </a:r>
            <a:r>
              <a:rPr lang="en" sz="2800" b="0" i="0" u="none" strike="noStrike" cap="none" dirty="0" smtClean="0">
                <a:solidFill>
                  <a:schemeClr val="dk2"/>
                </a:solidFill>
                <a:latin typeface="Arial"/>
                <a:ea typeface="Arial"/>
                <a:cs typeface="Arial"/>
                <a:sym typeface="Arial"/>
              </a:rPr>
              <a:t>., </a:t>
            </a:r>
            <a:r>
              <a:rPr lang="ru-RU" dirty="0" smtClean="0"/>
              <a:t>М16-524</a:t>
            </a:r>
            <a:endParaRPr lang="en" sz="2800" b="0" i="0" u="none" strike="noStrike" cap="none" dirty="0">
              <a:solidFill>
                <a:schemeClr val="dk2"/>
              </a:solidFill>
              <a:latin typeface="Arial"/>
              <a:ea typeface="Arial"/>
              <a:cs typeface="Arial"/>
              <a:sym typeface="Arial"/>
            </a:endParaRPr>
          </a:p>
          <a:p>
            <a:pPr marL="0" marR="0" lvl="0" indent="0" algn="ctr" rtl="0">
              <a:lnSpc>
                <a:spcPct val="100000"/>
              </a:lnSpc>
              <a:spcBef>
                <a:spcPts val="0"/>
              </a:spcBef>
              <a:spcAft>
                <a:spcPts val="0"/>
              </a:spcAft>
              <a:buClr>
                <a:schemeClr val="dk2"/>
              </a:buClr>
              <a:buSzPct val="25000"/>
              <a:buFont typeface="Arial"/>
              <a:buNone/>
            </a:pPr>
            <a:r>
              <a:rPr lang="en" sz="2800" b="0" i="0" u="none" strike="noStrike" cap="none" dirty="0">
                <a:solidFill>
                  <a:schemeClr val="dk2"/>
                </a:solidFill>
                <a:latin typeface="Arial"/>
                <a:ea typeface="Arial"/>
                <a:cs typeface="Arial"/>
                <a:sym typeface="Arial"/>
              </a:rPr>
              <a:t>Вариант </a:t>
            </a:r>
            <a:r>
              <a:rPr lang="ru-RU" sz="2800" b="0" i="0" u="none" strike="noStrike" cap="none" dirty="0" smtClean="0">
                <a:solidFill>
                  <a:schemeClr val="dk2"/>
                </a:solidFill>
                <a:latin typeface="Arial"/>
                <a:ea typeface="Arial"/>
                <a:cs typeface="Arial"/>
                <a:sym typeface="Arial"/>
              </a:rPr>
              <a:t>1-09</a:t>
            </a:r>
            <a:endParaRPr lang="en" sz="2800" b="0" i="0" u="none" strike="noStrike" cap="none" dirty="0">
              <a:solidFill>
                <a:schemeClr val="dk2"/>
              </a:solidFill>
              <a:latin typeface="Arial"/>
              <a:ea typeface="Arial"/>
              <a:cs typeface="Arial"/>
              <a:sym typeface="Arial"/>
            </a:endParaRPr>
          </a:p>
        </p:txBody>
      </p:sp>
      <p:sp>
        <p:nvSpPr>
          <p:cNvPr id="56" name="Shape 56"/>
          <p:cNvSpPr txBox="1">
            <a:spLocks noGrp="1"/>
          </p:cNvSpPr>
          <p:nvPr>
            <p:ph type="subTitle" idx="1"/>
          </p:nvPr>
        </p:nvSpPr>
        <p:spPr>
          <a:xfrm>
            <a:off x="510450" y="4686374"/>
            <a:ext cx="8123100" cy="385200"/>
          </a:xfrm>
          <a:prstGeom prst="rect">
            <a:avLst/>
          </a:prstGeom>
          <a:noFill/>
          <a:ln>
            <a:noFill/>
          </a:ln>
        </p:spPr>
        <p:txBody>
          <a:bodyPr wrap="square" lIns="91425" tIns="91425" rIns="91425" bIns="91425" anchor="t" anchorCtr="0">
            <a:noAutofit/>
          </a:bodyPr>
          <a:lstStyle/>
          <a:p>
            <a:pPr marL="0" marR="0" lvl="0" indent="0" algn="ctr" rtl="0">
              <a:lnSpc>
                <a:spcPct val="100000"/>
              </a:lnSpc>
              <a:spcBef>
                <a:spcPts val="0"/>
              </a:spcBef>
              <a:spcAft>
                <a:spcPts val="0"/>
              </a:spcAft>
              <a:buClr>
                <a:schemeClr val="dk2"/>
              </a:buClr>
              <a:buSzPct val="25000"/>
              <a:buFont typeface="Arial"/>
              <a:buNone/>
            </a:pPr>
            <a:r>
              <a:rPr lang="en" sz="1800" b="0" i="0" u="none" strike="noStrike" cap="none">
                <a:solidFill>
                  <a:schemeClr val="dk2"/>
                </a:solidFill>
                <a:latin typeface="Arial"/>
                <a:ea typeface="Arial"/>
                <a:cs typeface="Arial"/>
                <a:sym typeface="Arial"/>
              </a:rPr>
              <a:t>2017</a:t>
            </a:r>
          </a:p>
        </p:txBody>
      </p:sp>
      <p:cxnSp>
        <p:nvCxnSpPr>
          <p:cNvPr id="57" name="Shape 57"/>
          <p:cNvCxnSpPr/>
          <p:nvPr/>
        </p:nvCxnSpPr>
        <p:spPr>
          <a:xfrm>
            <a:off x="615150" y="2998025"/>
            <a:ext cx="500400" cy="0"/>
          </a:xfrm>
          <a:prstGeom prst="straightConnector1">
            <a:avLst/>
          </a:prstGeom>
          <a:noFill/>
          <a:ln w="19050" cap="flat" cmpd="sng">
            <a:solidFill>
              <a:schemeClr val="lt1"/>
            </a:solidFill>
            <a:prstDash val="solid"/>
            <a:round/>
            <a:headEnd type="none" w="med" len="med"/>
            <a:tailEnd type="none" w="med" len="med"/>
          </a:ln>
        </p:spPr>
      </p:cxnSp>
      <p:pic>
        <p:nvPicPr>
          <p:cNvPr id="58" name="Shape 58" descr="lab_logo.png"/>
          <p:cNvPicPr preferRelativeResize="0"/>
          <p:nvPr/>
        </p:nvPicPr>
        <p:blipFill rotWithShape="1">
          <a:blip r:embed="rId3">
            <a:alphaModFix/>
          </a:blip>
          <a:srcRect/>
          <a:stretch/>
        </p:blipFill>
        <p:spPr>
          <a:xfrm>
            <a:off x="7969474" y="47899"/>
            <a:ext cx="1085755" cy="1219017"/>
          </a:xfrm>
          <a:prstGeom prst="rect">
            <a:avLst/>
          </a:prstGeom>
          <a:noFill/>
          <a:ln>
            <a:noFill/>
          </a:ln>
        </p:spPr>
      </p:pic>
      <p:pic>
        <p:nvPicPr>
          <p:cNvPr id="59" name="Shape 59" descr="mephi.jpg"/>
          <p:cNvPicPr preferRelativeResize="0"/>
          <p:nvPr/>
        </p:nvPicPr>
        <p:blipFill rotWithShape="1">
          <a:blip r:embed="rId4">
            <a:alphaModFix/>
          </a:blip>
          <a:srcRect/>
          <a:stretch/>
        </p:blipFill>
        <p:spPr>
          <a:xfrm>
            <a:off x="76650" y="95800"/>
            <a:ext cx="1240423" cy="1218612"/>
          </a:xfrm>
          <a:prstGeom prst="rect">
            <a:avLst/>
          </a:prstGeom>
          <a:noFill/>
          <a:ln>
            <a:noFill/>
          </a:ln>
        </p:spPr>
      </p:pic>
      <p:pic>
        <p:nvPicPr>
          <p:cNvPr id="60" name="Shape 60" descr="logo.png"/>
          <p:cNvPicPr preferRelativeResize="0"/>
          <p:nvPr/>
        </p:nvPicPr>
        <p:blipFill rotWithShape="1">
          <a:blip r:embed="rId5">
            <a:alphaModFix/>
          </a:blip>
          <a:srcRect/>
          <a:stretch/>
        </p:blipFill>
        <p:spPr>
          <a:xfrm>
            <a:off x="2569112" y="95800"/>
            <a:ext cx="5235976" cy="818125"/>
          </a:xfrm>
          <a:prstGeom prst="rect">
            <a:avLst/>
          </a:prstGeom>
          <a:noFill/>
          <a:ln>
            <a:noFill/>
          </a:ln>
        </p:spPr>
      </p:pic>
      <p:sp>
        <p:nvSpPr>
          <p:cNvPr id="61" name="Shape 61"/>
          <p:cNvSpPr txBox="1">
            <a:spLocks noGrp="1"/>
          </p:cNvSpPr>
          <p:nvPr>
            <p:ph type="subTitle" idx="1"/>
          </p:nvPr>
        </p:nvSpPr>
        <p:spPr>
          <a:xfrm>
            <a:off x="2743825" y="860025"/>
            <a:ext cx="3798900" cy="717300"/>
          </a:xfrm>
          <a:prstGeom prst="rect">
            <a:avLst/>
          </a:prstGeom>
          <a:noFill/>
          <a:ln>
            <a:noFill/>
          </a:ln>
        </p:spPr>
        <p:txBody>
          <a:bodyPr wrap="square" lIns="91425" tIns="91425" rIns="91425" bIns="91425" anchor="t" anchorCtr="0">
            <a:noAutofit/>
          </a:bodyPr>
          <a:lstStyle/>
          <a:p>
            <a:pPr marL="0" marR="0" lvl="0" indent="0" algn="ctr" rtl="0">
              <a:lnSpc>
                <a:spcPct val="100000"/>
              </a:lnSpc>
              <a:spcBef>
                <a:spcPts val="0"/>
              </a:spcBef>
              <a:spcAft>
                <a:spcPts val="0"/>
              </a:spcAft>
              <a:buClr>
                <a:schemeClr val="dk2"/>
              </a:buClr>
              <a:buSzPct val="25000"/>
              <a:buFont typeface="Arial"/>
              <a:buNone/>
            </a:pPr>
            <a:r>
              <a:rPr lang="en" sz="1800" i="0" u="none" strike="noStrike" cap="none">
                <a:solidFill>
                  <a:schemeClr val="dk2"/>
                </a:solidFill>
              </a:rPr>
              <a:t>Курс “Машинное обучение”</a:t>
            </a:r>
          </a:p>
          <a:p>
            <a:pPr marL="0" marR="0" lvl="0" indent="0" algn="ctr" rtl="0">
              <a:lnSpc>
                <a:spcPct val="100000"/>
              </a:lnSpc>
              <a:spcBef>
                <a:spcPts val="0"/>
              </a:spcBef>
              <a:spcAft>
                <a:spcPts val="0"/>
              </a:spcAft>
              <a:buClr>
                <a:schemeClr val="dk2"/>
              </a:buClr>
              <a:buSzPct val="25000"/>
              <a:buFont typeface="Arial"/>
              <a:buNone/>
            </a:pPr>
            <a:r>
              <a:rPr lang="en" sz="1400"/>
              <a:t>Лабораторная работа</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Исходные данные</a:t>
            </a:r>
          </a:p>
        </p:txBody>
      </p:sp>
      <p:sp>
        <p:nvSpPr>
          <p:cNvPr id="67" name="Shape 67"/>
          <p:cNvSpPr txBox="1">
            <a:spLocks noGrp="1"/>
          </p:cNvSpPr>
          <p:nvPr>
            <p:ph type="body" idx="1"/>
          </p:nvPr>
        </p:nvSpPr>
        <p:spPr>
          <a:xfrm>
            <a:off x="311700" y="1024425"/>
            <a:ext cx="5988492" cy="3544500"/>
          </a:xfrm>
          <a:prstGeom prst="rect">
            <a:avLst/>
          </a:prstGeom>
          <a:noFill/>
          <a:ln>
            <a:noFill/>
          </a:ln>
        </p:spPr>
        <p:txBody>
          <a:bodyPr wrap="square" lIns="91425" tIns="91425" rIns="91425" bIns="91425" anchor="t" anchorCtr="0">
            <a:noAutofit/>
          </a:bodyPr>
          <a:lstStyle/>
          <a:p>
            <a:pPr marL="0" marR="0" lvl="0" indent="0" algn="l" rtl="0">
              <a:lnSpc>
                <a:spcPct val="115000"/>
              </a:lnSpc>
              <a:spcBef>
                <a:spcPts val="0"/>
              </a:spcBef>
              <a:spcAft>
                <a:spcPts val="0"/>
              </a:spcAft>
              <a:buClr>
                <a:schemeClr val="dk2"/>
              </a:buClr>
              <a:buSzPct val="25000"/>
              <a:buFont typeface="Arial"/>
              <a:buNone/>
            </a:pPr>
            <a:r>
              <a:rPr lang="en-US" sz="2000" b="1" dirty="0" smtClean="0"/>
              <a:t>Source data </a:t>
            </a:r>
            <a:r>
              <a:rPr lang="en-US" sz="2000" dirty="0" smtClean="0"/>
              <a:t>– binary classified (positive and negative classes) set of entities</a:t>
            </a:r>
            <a:r>
              <a:rPr lang="ru-RU" sz="2000" dirty="0" smtClean="0"/>
              <a:t>, </a:t>
            </a:r>
            <a:r>
              <a:rPr lang="en-US" sz="2000" dirty="0" smtClean="0"/>
              <a:t>described by two parameters</a:t>
            </a:r>
            <a:r>
              <a:rPr lang="ru-RU" sz="2000" dirty="0" smtClean="0"/>
              <a:t> </a:t>
            </a:r>
            <a:r>
              <a:rPr lang="en-US" sz="2000" dirty="0" smtClean="0"/>
              <a:t>x1 </a:t>
            </a:r>
            <a:r>
              <a:rPr lang="en-US" sz="2000" dirty="0" smtClean="0"/>
              <a:t>and</a:t>
            </a:r>
            <a:r>
              <a:rPr lang="ru-RU" sz="2000" dirty="0" smtClean="0"/>
              <a:t> </a:t>
            </a:r>
            <a:r>
              <a:rPr lang="en-US" sz="2000" dirty="0" smtClean="0"/>
              <a:t>x2.</a:t>
            </a:r>
            <a:endParaRPr lang="ru-RU" sz="2000" dirty="0"/>
          </a:p>
          <a:p>
            <a:pPr marL="0" marR="0" lvl="0" indent="0" algn="l" rtl="0">
              <a:lnSpc>
                <a:spcPct val="115000"/>
              </a:lnSpc>
              <a:spcBef>
                <a:spcPts val="0"/>
              </a:spcBef>
              <a:spcAft>
                <a:spcPts val="0"/>
              </a:spcAft>
              <a:buClr>
                <a:schemeClr val="dk2"/>
              </a:buClr>
              <a:buSzPct val="25000"/>
              <a:buFont typeface="Arial"/>
              <a:buNone/>
            </a:pPr>
            <a:r>
              <a:rPr lang="en-US" sz="2000" b="1" i="0" u="none" strike="noStrike" cap="none" dirty="0" smtClean="0">
                <a:solidFill>
                  <a:schemeClr val="dk2"/>
                </a:solidFill>
                <a:sym typeface="Arial"/>
              </a:rPr>
              <a:t>Sample size </a:t>
            </a:r>
            <a:r>
              <a:rPr lang="ru-RU" sz="2000" b="0" i="0" u="none" strike="noStrike" cap="none" dirty="0" smtClean="0">
                <a:solidFill>
                  <a:schemeClr val="dk2"/>
                </a:solidFill>
                <a:sym typeface="Arial"/>
              </a:rPr>
              <a:t>– </a:t>
            </a:r>
            <a:r>
              <a:rPr lang="ru-RU" sz="2000" b="0" i="0" u="none" strike="noStrike" cap="none" dirty="0" smtClean="0">
                <a:solidFill>
                  <a:schemeClr val="dk2"/>
                </a:solidFill>
                <a:sym typeface="Arial"/>
              </a:rPr>
              <a:t>350 (50 </a:t>
            </a:r>
            <a:r>
              <a:rPr lang="en-US" sz="2000" b="0" i="0" u="none" strike="noStrike" cap="none" dirty="0" smtClean="0">
                <a:solidFill>
                  <a:schemeClr val="dk2"/>
                </a:solidFill>
                <a:sym typeface="Arial"/>
              </a:rPr>
              <a:t>positive</a:t>
            </a:r>
            <a:r>
              <a:rPr lang="ru-RU" sz="2000" b="0" i="0" u="none" strike="noStrike" cap="none" dirty="0" smtClean="0">
                <a:solidFill>
                  <a:schemeClr val="dk2"/>
                </a:solidFill>
                <a:sym typeface="Arial"/>
              </a:rPr>
              <a:t>, </a:t>
            </a:r>
            <a:r>
              <a:rPr lang="ru-RU" sz="2000" b="0" i="0" u="none" strike="noStrike" cap="none" dirty="0" smtClean="0">
                <a:solidFill>
                  <a:schemeClr val="dk2"/>
                </a:solidFill>
                <a:sym typeface="Arial"/>
              </a:rPr>
              <a:t>300 </a:t>
            </a:r>
            <a:r>
              <a:rPr lang="en-US" sz="2000" b="0" i="0" u="none" strike="noStrike" cap="none" dirty="0" smtClean="0">
                <a:solidFill>
                  <a:schemeClr val="dk2"/>
                </a:solidFill>
                <a:sym typeface="Arial"/>
              </a:rPr>
              <a:t>negative</a:t>
            </a:r>
            <a:r>
              <a:rPr lang="ru-RU" sz="2000" b="0" i="0" u="none" strike="noStrike" cap="none" dirty="0" smtClean="0">
                <a:solidFill>
                  <a:schemeClr val="dk2"/>
                </a:solidFill>
                <a:sym typeface="Arial"/>
              </a:rPr>
              <a:t>)</a:t>
            </a:r>
            <a:endParaRPr lang="en-US" sz="2000" b="0" i="0" u="none" strike="noStrike" cap="none" dirty="0" smtClean="0">
              <a:solidFill>
                <a:schemeClr val="dk2"/>
              </a:solidFill>
              <a:sym typeface="Arial"/>
            </a:endParaRPr>
          </a:p>
          <a:p>
            <a:pPr indent="0">
              <a:spcAft>
                <a:spcPts val="0"/>
              </a:spcAft>
              <a:buSzPct val="25000"/>
              <a:buNone/>
            </a:pPr>
            <a:r>
              <a:rPr lang="en-US" sz="2000" b="1" dirty="0" smtClean="0"/>
              <a:t>Representation</a:t>
            </a:r>
            <a:r>
              <a:rPr lang="en-US" sz="2000" dirty="0" smtClean="0"/>
              <a:t> – entities can be interpreted as points </a:t>
            </a:r>
            <a:r>
              <a:rPr lang="en-US" sz="2000" dirty="0"/>
              <a:t>on Cartesian coordinate </a:t>
            </a:r>
            <a:r>
              <a:rPr lang="en-US" sz="2000" dirty="0" smtClean="0"/>
              <a:t>plane with axes x1 and x2 for ease.</a:t>
            </a:r>
            <a:endParaRPr lang="en" sz="2400" i="0" u="none" strike="noStrike" cap="none" dirty="0">
              <a:solidFill>
                <a:schemeClr val="dk2"/>
              </a:solidFill>
              <a:latin typeface="Arial"/>
              <a:ea typeface="Arial"/>
              <a:cs typeface="Arial"/>
              <a:sym typeface="Arial"/>
            </a:endParaRPr>
          </a:p>
        </p:txBody>
      </p:sp>
      <p:pic>
        <p:nvPicPr>
          <p:cNvPr id="4098" name="Picture 2" descr="D:\Users\Kharitonov_E\Dropbox\MEPhI\3M_Maching_learning\lab1\data1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915566"/>
            <a:ext cx="2372936" cy="331236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6" name="Shape 67"/>
          <p:cNvSpPr txBox="1">
            <a:spLocks/>
          </p:cNvSpPr>
          <p:nvPr/>
        </p:nvSpPr>
        <p:spPr>
          <a:xfrm>
            <a:off x="6514552" y="4306019"/>
            <a:ext cx="2088232" cy="36004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1. </a:t>
            </a:r>
            <a:r>
              <a:rPr lang="en-US" sz="1100" dirty="0" smtClean="0"/>
              <a:t>Piece of sample data</a:t>
            </a:r>
            <a:endParaRPr lang="en" sz="1100" dirty="0"/>
          </a:p>
        </p:txBody>
      </p:sp>
    </p:spTree>
    <p:extLst>
      <p:ext uri="{BB962C8B-B14F-4D97-AF65-F5344CB8AC3E}">
        <p14:creationId xmlns:p14="http://schemas.microsoft.com/office/powerpoint/2010/main" val="19196384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Исходные данные</a:t>
            </a:r>
          </a:p>
        </p:txBody>
      </p:sp>
      <p:sp>
        <p:nvSpPr>
          <p:cNvPr id="67" name="Shape 67"/>
          <p:cNvSpPr txBox="1">
            <a:spLocks noGrp="1"/>
          </p:cNvSpPr>
          <p:nvPr>
            <p:ph type="body" idx="1"/>
          </p:nvPr>
        </p:nvSpPr>
        <p:spPr>
          <a:xfrm>
            <a:off x="539552" y="3939902"/>
            <a:ext cx="4044276" cy="629023"/>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 sz="1100" b="0" i="0" u="none" strike="noStrike" cap="none" dirty="0" smtClean="0">
                <a:solidFill>
                  <a:schemeClr val="dk2"/>
                </a:solidFill>
                <a:sym typeface="Arial"/>
              </a:rPr>
              <a:t>Figure 1. </a:t>
            </a:r>
            <a:r>
              <a:rPr lang="ru-RU" sz="1100" dirty="0" err="1"/>
              <a:t>Visualization</a:t>
            </a:r>
            <a:r>
              <a:rPr lang="ru-RU" sz="1100" dirty="0"/>
              <a:t> </a:t>
            </a:r>
            <a:r>
              <a:rPr lang="ru-RU" sz="1100" dirty="0" err="1"/>
              <a:t>of</a:t>
            </a:r>
            <a:r>
              <a:rPr lang="ru-RU" sz="1100" dirty="0"/>
              <a:t> </a:t>
            </a:r>
            <a:r>
              <a:rPr lang="ru-RU" sz="1100" dirty="0" err="1"/>
              <a:t>source</a:t>
            </a:r>
            <a:r>
              <a:rPr lang="ru-RU" sz="1100" dirty="0"/>
              <a:t> </a:t>
            </a:r>
            <a:r>
              <a:rPr lang="ru-RU" sz="1100" dirty="0" err="1"/>
              <a:t>data</a:t>
            </a:r>
            <a:r>
              <a:rPr lang="ru-RU" sz="1100" dirty="0"/>
              <a:t> </a:t>
            </a:r>
            <a:r>
              <a:rPr lang="ru-RU" sz="1100" dirty="0" err="1"/>
              <a:t>set</a:t>
            </a:r>
            <a:r>
              <a:rPr lang="ru-RU" sz="1100" dirty="0"/>
              <a:t> </a:t>
            </a:r>
            <a:r>
              <a:rPr lang="ru-RU" sz="1100" dirty="0" err="1"/>
              <a:t>as</a:t>
            </a:r>
            <a:r>
              <a:rPr lang="ru-RU" sz="1100" dirty="0"/>
              <a:t> </a:t>
            </a:r>
            <a:r>
              <a:rPr lang="ru-RU" sz="1100" dirty="0" err="1"/>
              <a:t>points</a:t>
            </a:r>
            <a:r>
              <a:rPr lang="ru-RU" sz="1100" dirty="0"/>
              <a:t> </a:t>
            </a:r>
            <a:r>
              <a:rPr lang="ru-RU" sz="1100" dirty="0" err="1"/>
              <a:t>on</a:t>
            </a:r>
            <a:r>
              <a:rPr lang="ru-RU" sz="1100" dirty="0"/>
              <a:t> </a:t>
            </a:r>
            <a:r>
              <a:rPr lang="ru-RU" sz="1100" dirty="0" err="1"/>
              <a:t>the</a:t>
            </a:r>
            <a:r>
              <a:rPr lang="ru-RU" sz="1100" dirty="0"/>
              <a:t> </a:t>
            </a:r>
            <a:r>
              <a:rPr lang="ru-RU" sz="1100" dirty="0" err="1"/>
              <a:t>coordinate</a:t>
            </a:r>
            <a:r>
              <a:rPr lang="ru-RU" sz="1100" dirty="0"/>
              <a:t> </a:t>
            </a:r>
            <a:r>
              <a:rPr lang="ru-RU" sz="1100" dirty="0" err="1"/>
              <a:t>plane</a:t>
            </a:r>
            <a:r>
              <a:rPr lang="ru-RU" sz="1100" dirty="0"/>
              <a:t> </a:t>
            </a:r>
            <a:r>
              <a:rPr lang="en-US" sz="1100" dirty="0" smtClean="0"/>
              <a:t>with real classification</a:t>
            </a:r>
            <a:endParaRPr lang="en" sz="1100" b="0" i="0" u="none" strike="noStrike" cap="none" dirty="0">
              <a:solidFill>
                <a:schemeClr val="dk2"/>
              </a:solidFill>
              <a:sym typeface="Arial"/>
            </a:endParaRPr>
          </a:p>
        </p:txBody>
      </p:sp>
      <p:pic>
        <p:nvPicPr>
          <p:cNvPr id="2050" name="Picture 2" descr="D:\Users\Kharitonov_E\Dropbox\MEPhI\3M_Trophy (machine learning)\lab1\visual_rea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67" y="882839"/>
            <a:ext cx="4223706" cy="316835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D:\Users\Kharitonov_E\Dropbox\MEPhI\3M_Trophy (machine learning)\lab1\visual_predict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1554" y="882839"/>
            <a:ext cx="4198776" cy="3149652"/>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1691680" y="1059582"/>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7" name="Прямоугольник 6"/>
          <p:cNvSpPr/>
          <p:nvPr/>
        </p:nvSpPr>
        <p:spPr>
          <a:xfrm>
            <a:off x="6126866" y="995958"/>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9" name="Shape 67"/>
          <p:cNvSpPr txBox="1">
            <a:spLocks/>
          </p:cNvSpPr>
          <p:nvPr/>
        </p:nvSpPr>
        <p:spPr>
          <a:xfrm>
            <a:off x="4831977" y="3939902"/>
            <a:ext cx="4044276"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2. </a:t>
            </a:r>
            <a:r>
              <a:rPr lang="ru-RU" sz="1100" dirty="0" err="1" smtClean="0"/>
              <a:t>Visualization</a:t>
            </a:r>
            <a:r>
              <a:rPr lang="ru-RU" sz="1100" dirty="0" smtClean="0"/>
              <a:t> </a:t>
            </a:r>
            <a:r>
              <a:rPr lang="ru-RU" sz="1100" dirty="0" err="1" smtClean="0"/>
              <a:t>of</a:t>
            </a:r>
            <a:r>
              <a:rPr lang="ru-RU" sz="1100" dirty="0" smtClean="0"/>
              <a:t> </a:t>
            </a:r>
            <a:r>
              <a:rPr lang="ru-RU" sz="1100" dirty="0" err="1" smtClean="0"/>
              <a:t>source</a:t>
            </a:r>
            <a:r>
              <a:rPr lang="ru-RU" sz="1100" dirty="0" smtClean="0"/>
              <a:t> </a:t>
            </a:r>
            <a:r>
              <a:rPr lang="ru-RU" sz="1100" dirty="0" err="1" smtClean="0"/>
              <a:t>data</a:t>
            </a:r>
            <a:r>
              <a:rPr lang="ru-RU" sz="1100" dirty="0" smtClean="0"/>
              <a:t> </a:t>
            </a:r>
            <a:r>
              <a:rPr lang="ru-RU" sz="1100" dirty="0" err="1" smtClean="0"/>
              <a:t>set</a:t>
            </a:r>
            <a:r>
              <a:rPr lang="ru-RU" sz="1100" dirty="0" smtClean="0"/>
              <a:t> </a:t>
            </a:r>
            <a:r>
              <a:rPr lang="ru-RU" sz="1100" dirty="0" err="1" smtClean="0"/>
              <a:t>as</a:t>
            </a:r>
            <a:r>
              <a:rPr lang="ru-RU" sz="1100" dirty="0" smtClean="0"/>
              <a:t> </a:t>
            </a:r>
            <a:r>
              <a:rPr lang="ru-RU" sz="1100" dirty="0" err="1" smtClean="0"/>
              <a:t>points</a:t>
            </a:r>
            <a:r>
              <a:rPr lang="ru-RU" sz="1100" dirty="0" smtClean="0"/>
              <a:t> </a:t>
            </a:r>
            <a:r>
              <a:rPr lang="ru-RU" sz="1100" dirty="0" err="1" smtClean="0"/>
              <a:t>on</a:t>
            </a:r>
            <a:r>
              <a:rPr lang="ru-RU" sz="1100" dirty="0" smtClean="0"/>
              <a:t> </a:t>
            </a:r>
            <a:r>
              <a:rPr lang="ru-RU" sz="1100" dirty="0" err="1" smtClean="0"/>
              <a:t>the</a:t>
            </a:r>
            <a:r>
              <a:rPr lang="ru-RU" sz="1100" dirty="0" smtClean="0"/>
              <a:t> </a:t>
            </a:r>
            <a:r>
              <a:rPr lang="ru-RU" sz="1100" dirty="0" err="1" smtClean="0"/>
              <a:t>coordinate</a:t>
            </a:r>
            <a:r>
              <a:rPr lang="ru-RU" sz="1100" dirty="0" smtClean="0"/>
              <a:t> </a:t>
            </a:r>
            <a:r>
              <a:rPr lang="ru-RU" sz="1100" dirty="0" err="1" smtClean="0"/>
              <a:t>plane</a:t>
            </a:r>
            <a:r>
              <a:rPr lang="ru-RU" sz="1100" dirty="0" smtClean="0"/>
              <a:t> </a:t>
            </a:r>
            <a:r>
              <a:rPr lang="ru-RU" sz="1100" dirty="0" err="1" smtClean="0"/>
              <a:t>classified</a:t>
            </a:r>
            <a:r>
              <a:rPr lang="ru-RU" sz="1100" dirty="0" smtClean="0"/>
              <a:t> </a:t>
            </a:r>
            <a:r>
              <a:rPr lang="ru-RU" sz="1100" dirty="0" err="1" smtClean="0"/>
              <a:t>by</a:t>
            </a:r>
            <a:r>
              <a:rPr lang="ru-RU" sz="1100" dirty="0" smtClean="0"/>
              <a:t> </a:t>
            </a:r>
            <a:r>
              <a:rPr lang="en-US" sz="1100" dirty="0" smtClean="0"/>
              <a:t>proposed</a:t>
            </a:r>
            <a:r>
              <a:rPr lang="ru-RU" sz="1100" dirty="0" smtClean="0"/>
              <a:t> </a:t>
            </a:r>
            <a:r>
              <a:rPr lang="ru-RU" sz="1100" dirty="0" err="1" smtClean="0"/>
              <a:t>classifier</a:t>
            </a:r>
            <a:endParaRPr lang="en" sz="1100" dirty="0"/>
          </a:p>
        </p:txBody>
      </p:sp>
    </p:spTree>
    <p:extLst>
      <p:ext uri="{BB962C8B-B14F-4D97-AF65-F5344CB8AC3E}">
        <p14:creationId xmlns:p14="http://schemas.microsoft.com/office/powerpoint/2010/main" val="16162784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mc:AlternateContent xmlns:mc="http://schemas.openxmlformats.org/markup-compatibility/2006">
        <mc:Choice xmlns:a14="http://schemas.microsoft.com/office/drawing/2010/main" Requires="a14">
          <p:sp>
            <p:nvSpPr>
              <p:cNvPr id="73" name="Shape 73"/>
              <p:cNvSpPr txBox="1">
                <a:spLocks noGrp="1"/>
              </p:cNvSpPr>
              <p:nvPr>
                <p:ph type="body" idx="1"/>
              </p:nvPr>
            </p:nvSpPr>
            <p:spPr>
              <a:xfrm>
                <a:off x="311700" y="1024425"/>
                <a:ext cx="2748132" cy="3544500"/>
              </a:xfrm>
              <a:prstGeom prst="rect">
                <a:avLst/>
              </a:prstGeom>
              <a:noFill/>
              <a:ln>
                <a:noFill/>
              </a:ln>
            </p:spPr>
            <p:txBody>
              <a:bodyPr wrap="square" lIns="91425" tIns="91425" rIns="91425" bIns="91425" anchor="t" anchorCtr="0">
                <a:noAutofit/>
              </a:bodyPr>
              <a:lstStyle/>
              <a:p>
                <a:pPr marL="0" marR="0" lvl="0" indent="0" algn="l" rtl="0">
                  <a:lnSpc>
                    <a:spcPct val="115000"/>
                  </a:lnSpc>
                  <a:spcBef>
                    <a:spcPts val="0"/>
                  </a:spcBef>
                  <a:spcAft>
                    <a:spcPts val="0"/>
                  </a:spcAft>
                  <a:buClr>
                    <a:schemeClr val="dk2"/>
                  </a:buClr>
                  <a:buSzPct val="25000"/>
                  <a:buFont typeface="Arial"/>
                  <a:buNone/>
                </a:pPr>
                <a:r>
                  <a:rPr lang="en" sz="2000" b="1" i="0" u="none" strike="noStrike" cap="none" dirty="0" smtClean="0">
                    <a:solidFill>
                      <a:schemeClr val="dk2"/>
                    </a:solidFill>
                    <a:latin typeface="Arial"/>
                    <a:ea typeface="Arial"/>
                    <a:cs typeface="Arial"/>
                    <a:sym typeface="Arial"/>
                  </a:rPr>
                  <a:t>ROC &amp; PR curves</a:t>
                </a:r>
              </a:p>
              <a:p>
                <a:pPr marL="0" marR="0" lvl="0" indent="0" algn="l" rtl="0">
                  <a:lnSpc>
                    <a:spcPct val="115000"/>
                  </a:lnSpc>
                  <a:spcBef>
                    <a:spcPts val="0"/>
                  </a:spcBef>
                  <a:spcAft>
                    <a:spcPts val="0"/>
                  </a:spcAft>
                  <a:buClr>
                    <a:schemeClr val="dk2"/>
                  </a:buClr>
                  <a:buSzPct val="25000"/>
                  <a:buFont typeface="Arial"/>
                  <a:buNone/>
                </a:pPr>
                <a:r>
                  <a:rPr lang="en" sz="1600" dirty="0" smtClean="0"/>
                  <a:t>(1) TPR = REC = SENS = TP/(TP+FN) </a:t>
                </a:r>
              </a:p>
              <a:p>
                <a:pPr marL="0" marR="0" lvl="0" indent="0" algn="l" rtl="0">
                  <a:lnSpc>
                    <a:spcPct val="115000"/>
                  </a:lnSpc>
                  <a:spcBef>
                    <a:spcPts val="0"/>
                  </a:spcBef>
                  <a:spcAft>
                    <a:spcPts val="0"/>
                  </a:spcAft>
                  <a:buClr>
                    <a:schemeClr val="dk2"/>
                  </a:buClr>
                  <a:buSzPct val="25000"/>
                  <a:buFont typeface="Arial"/>
                  <a:buNone/>
                </a:pPr>
                <a:r>
                  <a:rPr lang="en" sz="1600" b="0" i="0" u="none" strike="noStrike" cap="none" dirty="0" smtClean="0">
                    <a:solidFill>
                      <a:schemeClr val="dk2"/>
                    </a:solidFill>
                    <a:sym typeface="Arial"/>
                  </a:rPr>
                  <a:t>(2) FPR = FP/(FP+TN)</a:t>
                </a:r>
              </a:p>
              <a:p>
                <a:pPr marL="0" marR="0" lvl="0" indent="0" algn="l" rtl="0">
                  <a:lnSpc>
                    <a:spcPct val="115000"/>
                  </a:lnSpc>
                  <a:spcBef>
                    <a:spcPts val="0"/>
                  </a:spcBef>
                  <a:spcAft>
                    <a:spcPts val="0"/>
                  </a:spcAft>
                  <a:buClr>
                    <a:schemeClr val="dk2"/>
                  </a:buClr>
                  <a:buSzPct val="25000"/>
                  <a:buFont typeface="Arial"/>
                  <a:buNone/>
                </a:pPr>
                <a:r>
                  <a:rPr lang="en" sz="1600" dirty="0" smtClean="0"/>
                  <a:t>(3) PREC = TP/(TP+FP) </a:t>
                </a:r>
              </a:p>
              <a:p>
                <a:pPr indent="0">
                  <a:spcAft>
                    <a:spcPts val="0"/>
                  </a:spcAft>
                  <a:buSzPct val="25000"/>
                  <a:buNone/>
                </a:pPr>
                <a:r>
                  <a:rPr lang="en" sz="1600" dirty="0" smtClean="0"/>
                  <a:t>(4) SPEC= TN/(TN+FP</a:t>
                </a:r>
                <a:r>
                  <a:rPr lang="en" sz="1600" dirty="0"/>
                  <a:t>) </a:t>
                </a:r>
                <a:endParaRPr lang="en" sz="1600" dirty="0" smtClean="0"/>
              </a:p>
              <a:p>
                <a:pPr indent="0">
                  <a:spcAft>
                    <a:spcPts val="0"/>
                  </a:spcAft>
                  <a:buSzPct val="25000"/>
                  <a:buNone/>
                </a:pPr>
                <a:r>
                  <a:rPr lang="en" sz="1600" dirty="0" smtClean="0"/>
                  <a:t>(5) </a:t>
                </a:r>
                <a14:m>
                  <m:oMath xmlns:m="http://schemas.openxmlformats.org/officeDocument/2006/math">
                    <m:sSub>
                      <m:sSubPr>
                        <m:ctrlPr>
                          <a:rPr lang="en-US" i="1">
                            <a:latin typeface="Cambria Math"/>
                          </a:rPr>
                        </m:ctrlPr>
                      </m:sSubPr>
                      <m:e>
                        <m:r>
                          <m:rPr>
                            <m:sty m:val="p"/>
                          </m:rPr>
                          <a:rPr lang="en-US">
                            <a:latin typeface="Cambria Math"/>
                          </a:rPr>
                          <m:t>F</m:t>
                        </m:r>
                      </m:e>
                      <m:sub>
                        <m:r>
                          <a:rPr lang="en-US">
                            <a:latin typeface="Cambria Math"/>
                          </a:rPr>
                          <m:t>1</m:t>
                        </m:r>
                      </m:sub>
                    </m:sSub>
                    <m:r>
                      <a:rPr lang="en-US">
                        <a:latin typeface="Cambria Math"/>
                      </a:rPr>
                      <m:t>=</m:t>
                    </m:r>
                    <m:f>
                      <m:fPr>
                        <m:ctrlPr>
                          <a:rPr lang="en-US" i="1">
                            <a:latin typeface="Cambria Math"/>
                          </a:rPr>
                        </m:ctrlPr>
                      </m:fPr>
                      <m:num>
                        <m:r>
                          <a:rPr lang="en-US">
                            <a:latin typeface="Cambria Math"/>
                          </a:rPr>
                          <m:t>2∗</m:t>
                        </m:r>
                        <m:r>
                          <m:rPr>
                            <m:sty m:val="p"/>
                          </m:rPr>
                          <a:rPr lang="en-US">
                            <a:latin typeface="Cambria Math"/>
                          </a:rPr>
                          <m:t>PREC</m:t>
                        </m:r>
                        <m:r>
                          <a:rPr lang="en-US">
                            <a:latin typeface="Cambria Math"/>
                          </a:rPr>
                          <m:t>∗</m:t>
                        </m:r>
                        <m:r>
                          <m:rPr>
                            <m:sty m:val="p"/>
                          </m:rPr>
                          <a:rPr lang="en-US">
                            <a:latin typeface="Cambria Math"/>
                          </a:rPr>
                          <m:t>REC</m:t>
                        </m:r>
                      </m:num>
                      <m:den>
                        <m:r>
                          <m:rPr>
                            <m:sty m:val="p"/>
                          </m:rPr>
                          <a:rPr lang="en-US">
                            <a:latin typeface="Cambria Math"/>
                          </a:rPr>
                          <m:t>PREC</m:t>
                        </m:r>
                        <m:r>
                          <a:rPr lang="en-US">
                            <a:latin typeface="Cambria Math"/>
                          </a:rPr>
                          <m:t>+</m:t>
                        </m:r>
                        <m:r>
                          <m:rPr>
                            <m:sty m:val="p"/>
                          </m:rPr>
                          <a:rPr lang="en-US">
                            <a:latin typeface="Cambria Math"/>
                          </a:rPr>
                          <m:t>REC</m:t>
                        </m:r>
                      </m:den>
                    </m:f>
                  </m:oMath>
                </a14:m>
                <a:endParaRPr lang="en" sz="1600" dirty="0"/>
              </a:p>
              <a:p>
                <a:pPr indent="0">
                  <a:spcAft>
                    <a:spcPts val="0"/>
                  </a:spcAft>
                  <a:buSzPct val="25000"/>
                  <a:buNone/>
                </a:pPr>
                <a:r>
                  <a:rPr lang="en" sz="1600" dirty="0" smtClean="0"/>
                  <a:t>(6) </a:t>
                </a:r>
                <a14:m>
                  <m:oMath xmlns:m="http://schemas.openxmlformats.org/officeDocument/2006/math">
                    <m:r>
                      <m:rPr>
                        <m:nor/>
                      </m:rPr>
                      <a:rPr lang="el-GR"/>
                      <m:t>ϰ</m:t>
                    </m:r>
                    <m:r>
                      <a:rPr lang="en-US">
                        <a:latin typeface="Cambria Math"/>
                      </a:rPr>
                      <m:t>=</m:t>
                    </m:r>
                    <m:f>
                      <m:fPr>
                        <m:ctrlPr>
                          <a:rPr lang="en-US" i="1">
                            <a:latin typeface="Cambria Math"/>
                          </a:rPr>
                        </m:ctrlPr>
                      </m:fPr>
                      <m:num>
                        <m:r>
                          <m:rPr>
                            <m:sty m:val="p"/>
                          </m:rPr>
                          <a:rPr lang="en-US">
                            <a:latin typeface="Cambria Math"/>
                          </a:rPr>
                          <m:t>ACC</m:t>
                        </m:r>
                        <m:r>
                          <a:rPr lang="en-US">
                            <a:latin typeface="Cambria Math"/>
                          </a:rPr>
                          <m:t> − </m:t>
                        </m:r>
                        <m:sSub>
                          <m:sSubPr>
                            <m:ctrlPr>
                              <a:rPr lang="en-US" i="1">
                                <a:latin typeface="Cambria Math"/>
                              </a:rPr>
                            </m:ctrlPr>
                          </m:sSubPr>
                          <m:e>
                            <m:r>
                              <a:rPr lang="en-US" i="1">
                                <a:latin typeface="Cambria Math"/>
                              </a:rPr>
                              <m:t>𝐴𝐶𝐶</m:t>
                            </m:r>
                          </m:e>
                          <m:sub>
                            <m:r>
                              <a:rPr lang="en-US" i="1">
                                <a:latin typeface="Cambria Math"/>
                              </a:rPr>
                              <m:t>0</m:t>
                            </m:r>
                          </m:sub>
                        </m:sSub>
                      </m:num>
                      <m:den>
                        <m:r>
                          <a:rPr lang="en-US">
                            <a:latin typeface="Cambria Math"/>
                          </a:rPr>
                          <m:t>1 −</m:t>
                        </m:r>
                        <m:sSub>
                          <m:sSubPr>
                            <m:ctrlPr>
                              <a:rPr lang="en-US" i="1">
                                <a:latin typeface="Cambria Math"/>
                              </a:rPr>
                            </m:ctrlPr>
                          </m:sSubPr>
                          <m:e>
                            <m:r>
                              <a:rPr lang="en-US" i="1">
                                <a:latin typeface="Cambria Math"/>
                              </a:rPr>
                              <m:t>𝐴𝐶𝐶</m:t>
                            </m:r>
                          </m:e>
                          <m:sub>
                            <m:r>
                              <a:rPr lang="en-US" i="1">
                                <a:latin typeface="Cambria Math"/>
                              </a:rPr>
                              <m:t>0</m:t>
                            </m:r>
                          </m:sub>
                        </m:sSub>
                      </m:den>
                    </m:f>
                  </m:oMath>
                </a14:m>
                <a:endParaRPr lang="en" sz="1600" dirty="0" smtClean="0"/>
              </a:p>
              <a:p>
                <a:pPr lvl="0" indent="0">
                  <a:spcAft>
                    <a:spcPts val="0"/>
                  </a:spcAft>
                  <a:buSzPct val="25000"/>
                  <a:buNone/>
                </a:pPr>
                <a:r>
                  <a:rPr lang="en" sz="1400" dirty="0" smtClean="0"/>
                  <a:t>(7) Y = (SENS + SPEC - 1)</a:t>
                </a:r>
              </a:p>
              <a:p>
                <a:pPr indent="0">
                  <a:spcAft>
                    <a:spcPts val="0"/>
                  </a:spcAft>
                  <a:buSzPct val="25000"/>
                  <a:buNone/>
                </a:pPr>
                <a:endParaRPr lang="en" sz="1400" dirty="0"/>
              </a:p>
              <a:p>
                <a:pPr marL="0" marR="0" lvl="0" indent="0" algn="l" rtl="0">
                  <a:lnSpc>
                    <a:spcPct val="115000"/>
                  </a:lnSpc>
                  <a:spcBef>
                    <a:spcPts val="0"/>
                  </a:spcBef>
                  <a:spcAft>
                    <a:spcPts val="0"/>
                  </a:spcAft>
                  <a:buClr>
                    <a:schemeClr val="dk2"/>
                  </a:buClr>
                  <a:buSzPct val="25000"/>
                  <a:buFont typeface="Arial"/>
                  <a:buNone/>
                </a:pPr>
                <a:endParaRPr lang="en" sz="1400" b="0" i="0" u="none" strike="noStrike" cap="none" dirty="0">
                  <a:solidFill>
                    <a:schemeClr val="dk2"/>
                  </a:solidFill>
                  <a:sym typeface="Arial"/>
                </a:endParaRPr>
              </a:p>
            </p:txBody>
          </p:sp>
        </mc:Choice>
        <mc:Fallback>
          <p:sp>
            <p:nvSpPr>
              <p:cNvPr id="73" name="Shape 73"/>
              <p:cNvSpPr txBox="1">
                <a:spLocks noGrp="1" noRot="1" noChangeAspect="1" noMove="1" noResize="1" noEditPoints="1" noAdjustHandles="1" noChangeArrowheads="1" noChangeShapeType="1" noTextEdit="1"/>
              </p:cNvSpPr>
              <p:nvPr>
                <p:ph type="body" idx="1"/>
              </p:nvPr>
            </p:nvSpPr>
            <p:spPr>
              <a:xfrm>
                <a:off x="311700" y="1024425"/>
                <a:ext cx="2748132" cy="3544500"/>
              </a:xfrm>
              <a:prstGeom prst="rect">
                <a:avLst/>
              </a:prstGeom>
              <a:blipFill rotWithShape="1">
                <a:blip r:embed="rId3"/>
                <a:stretch>
                  <a:fillRect l="-2217"/>
                </a:stretch>
              </a:blipFill>
              <a:ln>
                <a:noFill/>
              </a:ln>
            </p:spPr>
            <p:txBody>
              <a:bodyPr/>
              <a:lstStyle/>
              <a:p>
                <a:r>
                  <a:rPr lang="ru-RU">
                    <a:noFill/>
                  </a:rPr>
                  <a:t> </a:t>
                </a:r>
              </a:p>
            </p:txBody>
          </p:sp>
        </mc:Fallback>
      </mc:AlternateContent>
      <p:sp>
        <p:nvSpPr>
          <p:cNvPr id="8" name="Shape 73"/>
          <p:cNvSpPr txBox="1">
            <a:spLocks/>
          </p:cNvSpPr>
          <p:nvPr/>
        </p:nvSpPr>
        <p:spPr>
          <a:xfrm>
            <a:off x="3203915" y="1059582"/>
            <a:ext cx="2748132" cy="35445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2400" dirty="0" smtClean="0"/>
              <a:t> </a:t>
            </a:r>
          </a:p>
          <a:p>
            <a:pPr lvl="0" indent="0">
              <a:spcAft>
                <a:spcPts val="0"/>
              </a:spcAft>
              <a:buSzPct val="25000"/>
              <a:buNone/>
            </a:pPr>
            <a:r>
              <a:rPr lang="en" sz="1600" dirty="0" smtClean="0"/>
              <a:t>where</a:t>
            </a:r>
            <a:endParaRPr lang="en" sz="1600" dirty="0"/>
          </a:p>
          <a:p>
            <a:pPr lvl="0" indent="0">
              <a:spcAft>
                <a:spcPts val="0"/>
              </a:spcAft>
              <a:buSzPct val="25000"/>
              <a:buNone/>
            </a:pPr>
            <a:r>
              <a:rPr lang="en" sz="1600" dirty="0"/>
              <a:t>TP – True Positives count,</a:t>
            </a:r>
          </a:p>
          <a:p>
            <a:pPr indent="0">
              <a:spcAft>
                <a:spcPts val="0"/>
              </a:spcAft>
              <a:buSzPct val="25000"/>
              <a:buNone/>
            </a:pPr>
            <a:r>
              <a:rPr lang="en" sz="1600" dirty="0"/>
              <a:t>FN – False Negatives count,</a:t>
            </a:r>
          </a:p>
          <a:p>
            <a:pPr indent="0">
              <a:spcAft>
                <a:spcPts val="0"/>
              </a:spcAft>
              <a:buSzPct val="25000"/>
              <a:buNone/>
            </a:pPr>
            <a:r>
              <a:rPr lang="en" sz="1600" dirty="0"/>
              <a:t>FP – False Positives count,</a:t>
            </a:r>
          </a:p>
          <a:p>
            <a:pPr indent="0">
              <a:spcAft>
                <a:spcPts val="0"/>
              </a:spcAft>
              <a:buSzPct val="25000"/>
              <a:buNone/>
            </a:pPr>
            <a:r>
              <a:rPr lang="en" sz="1600" dirty="0"/>
              <a:t>TPR – True Positive Rate</a:t>
            </a:r>
            <a:r>
              <a:rPr lang="en" sz="1600" dirty="0" smtClean="0"/>
              <a:t>,</a:t>
            </a:r>
          </a:p>
          <a:p>
            <a:pPr indent="0">
              <a:spcAft>
                <a:spcPts val="0"/>
              </a:spcAft>
              <a:buSzPct val="25000"/>
              <a:buNone/>
            </a:pPr>
            <a:r>
              <a:rPr lang="en" sz="1600" dirty="0" smtClean="0"/>
              <a:t>SENS </a:t>
            </a:r>
            <a:r>
              <a:rPr lang="en" sz="1600" dirty="0"/>
              <a:t>– </a:t>
            </a:r>
            <a:r>
              <a:rPr lang="en" sz="1600" dirty="0" smtClean="0"/>
              <a:t>Sensitivity,</a:t>
            </a:r>
          </a:p>
          <a:p>
            <a:pPr indent="0">
              <a:spcAft>
                <a:spcPts val="0"/>
              </a:spcAft>
              <a:buSzPct val="25000"/>
              <a:buNone/>
            </a:pPr>
            <a:r>
              <a:rPr lang="en" sz="1600" dirty="0" smtClean="0"/>
              <a:t>SPEC </a:t>
            </a:r>
            <a:r>
              <a:rPr lang="en" sz="1600" dirty="0"/>
              <a:t>– </a:t>
            </a:r>
            <a:r>
              <a:rPr lang="en" sz="1600" dirty="0" smtClean="0"/>
              <a:t>Specificity,</a:t>
            </a:r>
            <a:endParaRPr lang="en" sz="1600" dirty="0"/>
          </a:p>
          <a:p>
            <a:pPr indent="0">
              <a:spcAft>
                <a:spcPts val="0"/>
              </a:spcAft>
              <a:buSzPct val="25000"/>
              <a:buNone/>
            </a:pPr>
            <a:r>
              <a:rPr lang="en" sz="1600" dirty="0"/>
              <a:t>FPR – False Positive Rate,</a:t>
            </a:r>
          </a:p>
          <a:p>
            <a:pPr indent="0">
              <a:spcAft>
                <a:spcPts val="0"/>
              </a:spcAft>
              <a:buSzPct val="25000"/>
              <a:buNone/>
            </a:pPr>
            <a:r>
              <a:rPr lang="en" sz="1600" dirty="0"/>
              <a:t>PREC – Precision,</a:t>
            </a:r>
          </a:p>
          <a:p>
            <a:pPr indent="0">
              <a:spcAft>
                <a:spcPts val="0"/>
              </a:spcAft>
              <a:buSzPct val="25000"/>
              <a:buNone/>
            </a:pPr>
            <a:r>
              <a:rPr lang="en" sz="1600" dirty="0"/>
              <a:t>REC – Recall</a:t>
            </a:r>
          </a:p>
          <a:p>
            <a:pPr indent="0">
              <a:spcAft>
                <a:spcPts val="0"/>
              </a:spcAft>
              <a:buSzPct val="25000"/>
              <a:buNone/>
            </a:pPr>
            <a:endParaRPr lang="en" sz="1600" dirty="0" smtClean="0"/>
          </a:p>
          <a:p>
            <a:pPr indent="0">
              <a:spcAft>
                <a:spcPts val="0"/>
              </a:spcAft>
              <a:buSzPct val="25000"/>
              <a:buFont typeface="Arial"/>
              <a:buNone/>
            </a:pPr>
            <a:endParaRPr lang="en" sz="1400" dirty="0"/>
          </a:p>
        </p:txBody>
      </p:sp>
      <mc:AlternateContent xmlns:mc="http://schemas.openxmlformats.org/markup-compatibility/2006" xmlns:a14="http://schemas.microsoft.com/office/drawing/2010/main">
        <mc:Choice Requires="a14">
          <p:sp>
            <p:nvSpPr>
              <p:cNvPr id="9" name="Shape 73"/>
              <p:cNvSpPr txBox="1">
                <a:spLocks/>
              </p:cNvSpPr>
              <p:nvPr/>
            </p:nvSpPr>
            <p:spPr>
              <a:xfrm>
                <a:off x="5952047" y="1707654"/>
                <a:ext cx="2748132" cy="1935832"/>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14:m>
                  <m:oMath xmlns:m="http://schemas.openxmlformats.org/officeDocument/2006/math">
                    <m:sSub>
                      <m:sSubPr>
                        <m:ctrlPr>
                          <a:rPr lang="en-US" sz="1600" i="1">
                            <a:latin typeface="Cambria Math"/>
                          </a:rPr>
                        </m:ctrlPr>
                      </m:sSubPr>
                      <m:e>
                        <m:r>
                          <m:rPr>
                            <m:sty m:val="p"/>
                          </m:rPr>
                          <a:rPr lang="en-US" sz="1600">
                            <a:latin typeface="Cambria Math"/>
                          </a:rPr>
                          <m:t>F</m:t>
                        </m:r>
                      </m:e>
                      <m:sub>
                        <m:r>
                          <a:rPr lang="en-US" sz="1600">
                            <a:latin typeface="Cambria Math"/>
                          </a:rPr>
                          <m:t>1</m:t>
                        </m:r>
                      </m:sub>
                    </m:sSub>
                  </m:oMath>
                </a14:m>
                <a:r>
                  <a:rPr lang="en" sz="1600" dirty="0"/>
                  <a:t> – F-score value for </a:t>
                </a:r>
                <a:r>
                  <a:rPr lang="el-GR" sz="1600" dirty="0"/>
                  <a:t>β</a:t>
                </a:r>
                <a:r>
                  <a:rPr lang="en-US" sz="1600" dirty="0"/>
                  <a:t> = 1</a:t>
                </a:r>
                <a:r>
                  <a:rPr lang="en" sz="1600" dirty="0"/>
                  <a:t>,</a:t>
                </a:r>
              </a:p>
              <a:p>
                <a:pPr indent="0">
                  <a:spcAft>
                    <a:spcPts val="0"/>
                  </a:spcAft>
                  <a:buSzPct val="25000"/>
                  <a:buNone/>
                </a:pPr>
                <a14:m>
                  <m:oMath xmlns:m="http://schemas.openxmlformats.org/officeDocument/2006/math">
                    <m:r>
                      <m:rPr>
                        <m:nor/>
                      </m:rPr>
                      <a:rPr lang="el-GR" sz="1600"/>
                      <m:t>ϰ</m:t>
                    </m:r>
                  </m:oMath>
                </a14:m>
                <a:r>
                  <a:rPr lang="en" sz="1600" dirty="0"/>
                  <a:t> – Cohen’s kappa,</a:t>
                </a:r>
              </a:p>
              <a:p>
                <a:pPr indent="0">
                  <a:spcAft>
                    <a:spcPts val="0"/>
                  </a:spcAft>
                  <a:buSzPct val="25000"/>
                  <a:buNone/>
                </a:pPr>
                <a:r>
                  <a:rPr lang="en" sz="1600" dirty="0"/>
                  <a:t>Y – Youden’s </a:t>
                </a:r>
                <a:r>
                  <a:rPr lang="en" sz="1600" dirty="0" smtClean="0"/>
                  <a:t>index.</a:t>
                </a:r>
                <a:endParaRPr lang="en" sz="1600" dirty="0"/>
              </a:p>
              <a:p>
                <a:pPr indent="0">
                  <a:spcAft>
                    <a:spcPts val="0"/>
                  </a:spcAft>
                  <a:buSzPct val="25000"/>
                  <a:buNone/>
                </a:pPr>
                <a:endParaRPr lang="en" sz="1600" dirty="0" smtClean="0"/>
              </a:p>
              <a:p>
                <a:pPr indent="0">
                  <a:spcAft>
                    <a:spcPts val="0"/>
                  </a:spcAft>
                  <a:buSzPct val="25000"/>
                  <a:buFont typeface="Arial"/>
                  <a:buNone/>
                </a:pPr>
                <a:endParaRPr lang="en" sz="1400" dirty="0"/>
              </a:p>
            </p:txBody>
          </p:sp>
        </mc:Choice>
        <mc:Fallback xmlns="">
          <p:sp>
            <p:nvSpPr>
              <p:cNvPr id="9" name="Shape 73"/>
              <p:cNvSpPr txBox="1">
                <a:spLocks noRot="1" noChangeAspect="1" noMove="1" noResize="1" noEditPoints="1" noAdjustHandles="1" noChangeArrowheads="1" noChangeShapeType="1" noTextEdit="1"/>
              </p:cNvSpPr>
              <p:nvPr/>
            </p:nvSpPr>
            <p:spPr>
              <a:xfrm>
                <a:off x="5952047" y="1707654"/>
                <a:ext cx="2748132" cy="1935832"/>
              </a:xfrm>
              <a:prstGeom prst="rect">
                <a:avLst/>
              </a:prstGeom>
              <a:blipFill rotWithShape="1">
                <a:blip r:embed="rId4"/>
                <a:stretch>
                  <a:fillRect l="-1109"/>
                </a:stretch>
              </a:blipFill>
              <a:ln>
                <a:noFill/>
              </a:ln>
            </p:spPr>
            <p:txBody>
              <a:bodyPr/>
              <a:lstStyle/>
              <a:p>
                <a:r>
                  <a:rPr lang="ru-RU">
                    <a:noFill/>
                  </a:rPr>
                  <a:t> </a:t>
                </a:r>
              </a:p>
            </p:txBody>
          </p:sp>
        </mc:Fallback>
      </mc:AlternateContent>
    </p:spTree>
    <p:extLst>
      <p:ext uri="{BB962C8B-B14F-4D97-AF65-F5344CB8AC3E}">
        <p14:creationId xmlns:p14="http://schemas.microsoft.com/office/powerpoint/2010/main" val="4326980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p:sp>
        <p:nvSpPr>
          <p:cNvPr id="73" name="Shape 73"/>
          <p:cNvSpPr txBox="1">
            <a:spLocks noGrp="1"/>
          </p:cNvSpPr>
          <p:nvPr>
            <p:ph type="body" idx="1"/>
          </p:nvPr>
        </p:nvSpPr>
        <p:spPr>
          <a:xfrm>
            <a:off x="311700" y="1024425"/>
            <a:ext cx="822074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 sz="2000" b="1" i="0" u="none" strike="noStrike" cap="none" dirty="0" smtClean="0">
                <a:solidFill>
                  <a:schemeClr val="dk2"/>
                </a:solidFill>
                <a:sym typeface="Arial"/>
              </a:rPr>
              <a:t>ROC (</a:t>
            </a:r>
            <a:r>
              <a:rPr lang="en-US" sz="2000" b="1" dirty="0" smtClean="0"/>
              <a:t>receiver operating characteristic</a:t>
            </a:r>
            <a:r>
              <a:rPr lang="en" sz="2000" b="1" i="0" u="none" strike="noStrike" cap="none" dirty="0" smtClean="0">
                <a:solidFill>
                  <a:schemeClr val="dk2"/>
                </a:solidFill>
                <a:sym typeface="Arial"/>
              </a:rPr>
              <a:t>) </a:t>
            </a:r>
            <a:r>
              <a:rPr lang="en-US" sz="2000" b="1" dirty="0" smtClean="0"/>
              <a:t>curve </a:t>
            </a:r>
            <a:r>
              <a:rPr lang="en-US" sz="2000" dirty="0" smtClean="0"/>
              <a:t>of classifier </a:t>
            </a:r>
            <a:r>
              <a:rPr lang="en-US" sz="2000" i="1" dirty="0" smtClean="0"/>
              <a:t>h </a:t>
            </a:r>
            <a:r>
              <a:rPr lang="en-US" sz="2000" dirty="0" smtClean="0"/>
              <a:t>is a graphical plot of its</a:t>
            </a:r>
            <a:r>
              <a:rPr lang="en-US" sz="2000" dirty="0" smtClean="0"/>
              <a:t> sensitivity (true positive rate) against the 1-specificity (false positive rate) at various thresholds </a:t>
            </a:r>
            <a:r>
              <a:rPr lang="en-US" sz="2000" i="1" dirty="0" smtClean="0"/>
              <a:t>b </a:t>
            </a:r>
            <a:r>
              <a:rPr lang="ru-RU" sz="2000" dirty="0"/>
              <a:t>∈ ℝ</a:t>
            </a:r>
            <a:endParaRPr lang="en" sz="2000" dirty="0" smtClean="0"/>
          </a:p>
          <a:p>
            <a:pPr lvl="0" indent="0">
              <a:spcAft>
                <a:spcPts val="0"/>
              </a:spcAft>
              <a:buSzPct val="25000"/>
              <a:buNone/>
            </a:pPr>
            <a:r>
              <a:rPr lang="en-US" sz="2000" b="1" dirty="0" smtClean="0"/>
              <a:t>PR </a:t>
            </a:r>
            <a:r>
              <a:rPr lang="en-US" sz="2000" b="1" dirty="0" smtClean="0"/>
              <a:t>(Precision-Recall) curve </a:t>
            </a:r>
            <a:r>
              <a:rPr lang="en-US" sz="2000" dirty="0"/>
              <a:t>of classifier </a:t>
            </a:r>
            <a:r>
              <a:rPr lang="en-US" sz="2000" i="1" dirty="0"/>
              <a:t>h </a:t>
            </a:r>
            <a:r>
              <a:rPr lang="en-US" sz="2000" dirty="0"/>
              <a:t>is a graphical plot of its </a:t>
            </a:r>
            <a:r>
              <a:rPr lang="en-US" sz="2000" dirty="0" smtClean="0"/>
              <a:t>precision (PREC) against RECALL (REC) at various </a:t>
            </a:r>
            <a:r>
              <a:rPr lang="en-US" sz="2000" dirty="0" smtClean="0"/>
              <a:t>t</a:t>
            </a:r>
            <a:r>
              <a:rPr lang="en-US" sz="2000" dirty="0" smtClean="0"/>
              <a:t>hresholds </a:t>
            </a:r>
            <a:r>
              <a:rPr lang="en-US" sz="2000" i="1" dirty="0"/>
              <a:t>b </a:t>
            </a:r>
            <a:r>
              <a:rPr lang="ru-RU" sz="2000" dirty="0"/>
              <a:t>∈ </a:t>
            </a:r>
            <a:r>
              <a:rPr lang="ru-RU" sz="2000" dirty="0" smtClean="0"/>
              <a:t>ℝ</a:t>
            </a:r>
            <a:endParaRPr lang="en-US" sz="2000" dirty="0" smtClean="0"/>
          </a:p>
          <a:p>
            <a:pPr indent="0">
              <a:spcAft>
                <a:spcPts val="0"/>
              </a:spcAft>
              <a:buSzPct val="25000"/>
              <a:buNone/>
            </a:pPr>
            <a:r>
              <a:rPr lang="en-US" sz="2000" b="1" dirty="0" smtClean="0"/>
              <a:t>AUC (Area Under Curve)</a:t>
            </a:r>
            <a:r>
              <a:rPr lang="en-US" sz="2000" dirty="0"/>
              <a:t> - the probability that a classifier will rank a randomly chosen positive instance higher than a randomly chosen negative one</a:t>
            </a:r>
            <a:endParaRPr lang="en-US" sz="2000" b="1" dirty="0" smtClean="0"/>
          </a:p>
          <a:p>
            <a:pPr indent="0">
              <a:spcAft>
                <a:spcPts val="0"/>
              </a:spcAft>
              <a:buSzPct val="25000"/>
              <a:buNone/>
            </a:pPr>
            <a:endParaRPr lang="en" sz="1400" dirty="0" smtClean="0"/>
          </a:p>
          <a:p>
            <a:pPr marL="0" marR="0" lvl="0" indent="0" algn="l" rtl="0">
              <a:lnSpc>
                <a:spcPct val="115000"/>
              </a:lnSpc>
              <a:spcBef>
                <a:spcPts val="0"/>
              </a:spcBef>
              <a:spcAft>
                <a:spcPts val="0"/>
              </a:spcAft>
              <a:buClr>
                <a:schemeClr val="dk2"/>
              </a:buClr>
              <a:buSzPct val="25000"/>
              <a:buFont typeface="Arial"/>
              <a:buNone/>
            </a:pPr>
            <a:endParaRPr lang="en" sz="1400" b="0" i="0" u="none" strike="noStrike" cap="none" dirty="0">
              <a:solidFill>
                <a:schemeClr val="dk2"/>
              </a:solidFill>
              <a:sym typeface="Arial"/>
            </a:endParaRPr>
          </a:p>
        </p:txBody>
      </p:sp>
    </p:spTree>
    <p:extLst>
      <p:ext uri="{BB962C8B-B14F-4D97-AF65-F5344CB8AC3E}">
        <p14:creationId xmlns:p14="http://schemas.microsoft.com/office/powerpoint/2010/main" val="39414361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mc:AlternateContent xmlns:mc="http://schemas.openxmlformats.org/markup-compatibility/2006">
        <mc:Choice xmlns:a14="http://schemas.microsoft.com/office/drawing/2010/main" Requires="a14">
          <p:sp>
            <p:nvSpPr>
              <p:cNvPr id="73" name="Shape 73"/>
              <p:cNvSpPr txBox="1">
                <a:spLocks noGrp="1"/>
              </p:cNvSpPr>
              <p:nvPr>
                <p:ph type="body" idx="1"/>
              </p:nvPr>
            </p:nvSpPr>
            <p:spPr>
              <a:xfrm>
                <a:off x="311700" y="1024425"/>
                <a:ext cx="822074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US" sz="2000" b="1" dirty="0" smtClean="0"/>
                  <a:t>Mann–Whitney </a:t>
                </a:r>
                <a:r>
                  <a:rPr lang="en-US" sz="2000" b="1" i="1" dirty="0"/>
                  <a:t>U</a:t>
                </a:r>
                <a:r>
                  <a:rPr lang="en-US" sz="2000" b="1" dirty="0"/>
                  <a:t> </a:t>
                </a:r>
                <a:r>
                  <a:rPr lang="en-US" sz="2000" b="1" dirty="0" smtClean="0"/>
                  <a:t>test </a:t>
                </a:r>
                <a:r>
                  <a:rPr lang="en-US" sz="2000" dirty="0" smtClean="0"/>
                  <a:t>– </a:t>
                </a:r>
                <a:r>
                  <a:rPr lang="en-US" sz="2000" dirty="0"/>
                  <a:t>is a </a:t>
                </a:r>
                <a:r>
                  <a:rPr lang="en-US" sz="2000" dirty="0" smtClean="0"/>
                  <a:t>test </a:t>
                </a:r>
                <a:r>
                  <a:rPr lang="en-US" sz="2000" dirty="0"/>
                  <a:t>of the null hypothesis that it is equally likely that a randomly selected value from one sample will be less than or greater than a randomly selected value from a </a:t>
                </a:r>
                <a:r>
                  <a:rPr lang="en-US" sz="2000" dirty="0" smtClean="0"/>
                  <a:t>second.</a:t>
                </a:r>
              </a:p>
              <a:p>
                <a:pPr lvl="0" indent="0" algn="ctr">
                  <a:spcAft>
                    <a:spcPts val="0"/>
                  </a:spcAft>
                  <a:buSzPct val="25000"/>
                  <a:buNone/>
                </a:pPr>
                <a:r>
                  <a:rPr lang="en-US" dirty="0"/>
                  <a:t>(8) </a:t>
                </a:r>
                <a14:m>
                  <m:oMath xmlns:m="http://schemas.openxmlformats.org/officeDocument/2006/math">
                    <m:r>
                      <m:rPr>
                        <m:sty m:val="p"/>
                      </m:rPr>
                      <a:rPr lang="en-US" sz="2000" b="0" i="0" smtClean="0">
                        <a:latin typeface="Cambria Math"/>
                      </a:rPr>
                      <m:t>U</m:t>
                    </m:r>
                    <m:r>
                      <a:rPr lang="en-US" sz="2000" b="0" i="0" smtClean="0">
                        <a:latin typeface="Cambria Math"/>
                      </a:rPr>
                      <m:t>= </m:t>
                    </m:r>
                    <m:sSub>
                      <m:sSubPr>
                        <m:ctrlPr>
                          <a:rPr lang="en-US" sz="2000" b="0" smtClean="0">
                            <a:latin typeface="Cambria Math"/>
                          </a:rPr>
                        </m:ctrlPr>
                      </m:sSubPr>
                      <m:e>
                        <m:r>
                          <m:rPr>
                            <m:sty m:val="p"/>
                          </m:rPr>
                          <a:rPr lang="en-US" sz="2000" b="0" i="0" smtClean="0">
                            <a:latin typeface="Cambria Math"/>
                          </a:rPr>
                          <m:t>n</m:t>
                        </m:r>
                      </m:e>
                      <m:sub>
                        <m:r>
                          <a:rPr lang="en-US" sz="2000" b="0" i="0" smtClean="0">
                            <a:latin typeface="Cambria Math"/>
                          </a:rPr>
                          <m:t>1</m:t>
                        </m:r>
                      </m:sub>
                    </m:sSub>
                    <m:sSub>
                      <m:sSubPr>
                        <m:ctrlPr>
                          <a:rPr lang="en-US" sz="2000">
                            <a:latin typeface="Cambria Math"/>
                          </a:rPr>
                        </m:ctrlPr>
                      </m:sSubPr>
                      <m:e>
                        <m:r>
                          <m:rPr>
                            <m:sty m:val="p"/>
                          </m:rPr>
                          <a:rPr lang="en-US" sz="2000" i="0">
                            <a:latin typeface="Cambria Math"/>
                          </a:rPr>
                          <m:t>n</m:t>
                        </m:r>
                      </m:e>
                      <m:sub>
                        <m:r>
                          <a:rPr lang="en-US" sz="2000" b="0" i="0" smtClean="0">
                            <a:latin typeface="Cambria Math"/>
                          </a:rPr>
                          <m:t>2</m:t>
                        </m:r>
                      </m:sub>
                    </m:sSub>
                    <m:r>
                      <a:rPr lang="en-US" sz="2000" b="0" i="0" smtClean="0">
                        <a:latin typeface="Cambria Math"/>
                      </a:rPr>
                      <m:t>+ </m:t>
                    </m:r>
                    <m:f>
                      <m:fPr>
                        <m:ctrlPr>
                          <a:rPr lang="en-US" sz="2000" b="0" smtClean="0">
                            <a:latin typeface="Cambria Math"/>
                          </a:rPr>
                        </m:ctrlPr>
                      </m:fPr>
                      <m:num>
                        <m:sSub>
                          <m:sSubPr>
                            <m:ctrlPr>
                              <a:rPr lang="en-US" sz="2000">
                                <a:latin typeface="Cambria Math"/>
                              </a:rPr>
                            </m:ctrlPr>
                          </m:sSubPr>
                          <m:e>
                            <m:r>
                              <m:rPr>
                                <m:sty m:val="p"/>
                              </m:rPr>
                              <a:rPr lang="en-US" sz="2000" i="0">
                                <a:latin typeface="Cambria Math"/>
                              </a:rPr>
                              <m:t>n</m:t>
                            </m:r>
                          </m:e>
                          <m:sub>
                            <m:r>
                              <m:rPr>
                                <m:sty m:val="p"/>
                              </m:rPr>
                              <a:rPr lang="en-US" sz="2000" b="0" i="0" smtClean="0">
                                <a:latin typeface="Cambria Math"/>
                              </a:rPr>
                              <m:t>x</m:t>
                            </m:r>
                          </m:sub>
                        </m:sSub>
                        <m:r>
                          <a:rPr lang="en-US" sz="2000" b="0" i="0" smtClean="0">
                            <a:latin typeface="Cambria Math"/>
                          </a:rPr>
                          <m:t>(</m:t>
                        </m:r>
                        <m:sSub>
                          <m:sSubPr>
                            <m:ctrlPr>
                              <a:rPr lang="en-US" sz="2000">
                                <a:latin typeface="Cambria Math"/>
                              </a:rPr>
                            </m:ctrlPr>
                          </m:sSubPr>
                          <m:e>
                            <m:r>
                              <m:rPr>
                                <m:sty m:val="p"/>
                              </m:rPr>
                              <a:rPr lang="en-US" sz="2000" i="0">
                                <a:latin typeface="Cambria Math"/>
                              </a:rPr>
                              <m:t>n</m:t>
                            </m:r>
                          </m:e>
                          <m:sub>
                            <m:r>
                              <m:rPr>
                                <m:sty m:val="p"/>
                              </m:rPr>
                              <a:rPr lang="en-US" sz="2000" i="0">
                                <a:latin typeface="Cambria Math"/>
                              </a:rPr>
                              <m:t>x</m:t>
                            </m:r>
                          </m:sub>
                        </m:sSub>
                        <m:r>
                          <a:rPr lang="en-US" sz="2000" b="0" i="0" smtClean="0">
                            <a:latin typeface="Cambria Math"/>
                          </a:rPr>
                          <m:t>+1)</m:t>
                        </m:r>
                      </m:num>
                      <m:den>
                        <m:r>
                          <a:rPr lang="en-US" sz="2000" b="0" i="0" smtClean="0">
                            <a:latin typeface="Cambria Math"/>
                          </a:rPr>
                          <m:t>2</m:t>
                        </m:r>
                      </m:den>
                    </m:f>
                    <m:r>
                      <a:rPr lang="en-US" sz="2000" b="0" i="0" smtClean="0">
                        <a:latin typeface="Cambria Math"/>
                      </a:rPr>
                      <m:t> − </m:t>
                    </m:r>
                    <m:sSub>
                      <m:sSubPr>
                        <m:ctrlPr>
                          <a:rPr lang="en-US" sz="2000" b="0" smtClean="0">
                            <a:latin typeface="Cambria Math"/>
                          </a:rPr>
                        </m:ctrlPr>
                      </m:sSubPr>
                      <m:e>
                        <m:r>
                          <m:rPr>
                            <m:sty m:val="p"/>
                          </m:rPr>
                          <a:rPr lang="en-US" sz="2000" b="0" i="0" smtClean="0">
                            <a:latin typeface="Cambria Math"/>
                          </a:rPr>
                          <m:t>T</m:t>
                        </m:r>
                      </m:e>
                      <m:sub>
                        <m:r>
                          <m:rPr>
                            <m:sty m:val="p"/>
                          </m:rPr>
                          <a:rPr lang="en-US" sz="2000" b="0" i="0" smtClean="0">
                            <a:latin typeface="Cambria Math"/>
                          </a:rPr>
                          <m:t>x</m:t>
                        </m:r>
                      </m:sub>
                    </m:sSub>
                  </m:oMath>
                </a14:m>
                <a:r>
                  <a:rPr lang="en" sz="2000" dirty="0" smtClean="0">
                    <a:latin typeface="+mn-lt"/>
                  </a:rPr>
                  <a:t>  - </a:t>
                </a:r>
                <a:r>
                  <a:rPr lang="en-US" sz="2000" dirty="0" smtClean="0">
                    <a:latin typeface="+mn-lt"/>
                  </a:rPr>
                  <a:t>test statistic, where</a:t>
                </a:r>
                <a:endParaRPr lang="ru-RU" sz="2000" dirty="0" smtClean="0">
                  <a:latin typeface="+mn-lt"/>
                </a:endParaRPr>
              </a:p>
              <a:p>
                <a:pPr lvl="0" indent="0" algn="ctr">
                  <a:spcAft>
                    <a:spcPts val="0"/>
                  </a:spcAft>
                  <a:buSzPct val="25000"/>
                  <a:buNone/>
                </a:pPr>
                <a14:m>
                  <m:oMath xmlns:m="http://schemas.openxmlformats.org/officeDocument/2006/math">
                    <m:sSub>
                      <m:sSubPr>
                        <m:ctrlPr>
                          <a:rPr lang="en-US" sz="2000" i="1">
                            <a:latin typeface="Cambria Math"/>
                          </a:rPr>
                        </m:ctrlPr>
                      </m:sSubPr>
                      <m:e>
                        <m:r>
                          <a:rPr lang="en-US" sz="2000" i="1">
                            <a:latin typeface="Cambria Math"/>
                          </a:rPr>
                          <m:t>𝑛</m:t>
                        </m:r>
                      </m:e>
                      <m:sub>
                        <m:r>
                          <a:rPr lang="en-US" sz="2000" i="1">
                            <a:latin typeface="Cambria Math"/>
                          </a:rPr>
                          <m:t>1</m:t>
                        </m:r>
                      </m:sub>
                    </m:sSub>
                    <m:r>
                      <a:rPr lang="ru-RU" sz="2000" b="0" i="0" smtClean="0">
                        <a:latin typeface="Cambria Math"/>
                      </a:rPr>
                      <m:t>,</m:t>
                    </m:r>
                    <m:sSub>
                      <m:sSubPr>
                        <m:ctrlPr>
                          <a:rPr lang="en-US" sz="2000" i="1">
                            <a:latin typeface="Cambria Math"/>
                          </a:rPr>
                        </m:ctrlPr>
                      </m:sSubPr>
                      <m:e>
                        <m:r>
                          <a:rPr lang="en-US" sz="2000" i="1">
                            <a:latin typeface="Cambria Math"/>
                          </a:rPr>
                          <m:t>𝑛</m:t>
                        </m:r>
                      </m:e>
                      <m:sub>
                        <m:r>
                          <a:rPr lang="ru-RU" sz="2000" b="0" i="1" smtClean="0">
                            <a:latin typeface="Cambria Math"/>
                          </a:rPr>
                          <m:t>2</m:t>
                        </m:r>
                      </m:sub>
                    </m:sSub>
                    <m:r>
                      <a:rPr lang="en-US" sz="2000" b="0" i="1" smtClean="0">
                        <a:latin typeface="Cambria Math"/>
                      </a:rPr>
                      <m:t> </m:t>
                    </m:r>
                  </m:oMath>
                </a14:m>
                <a:r>
                  <a:rPr lang="en" sz="2000" u="none" strike="noStrike" cap="none" dirty="0" smtClean="0">
                    <a:solidFill>
                      <a:schemeClr val="dk2"/>
                    </a:solidFill>
                    <a:latin typeface="+mn-lt"/>
                    <a:sym typeface="Arial"/>
                  </a:rPr>
                  <a:t>- the sample sizes,</a:t>
                </a:r>
              </a:p>
              <a:p>
                <a:pPr lvl="0" indent="0" algn="ctr">
                  <a:spcAft>
                    <a:spcPts val="0"/>
                  </a:spcAft>
                  <a:buSzPct val="25000"/>
                  <a:buNone/>
                </a:pPr>
                <a14:m>
                  <m:oMath xmlns:m="http://schemas.openxmlformats.org/officeDocument/2006/math">
                    <m:sSub>
                      <m:sSubPr>
                        <m:ctrlPr>
                          <a:rPr lang="en-US" sz="2000" i="1">
                            <a:latin typeface="Cambria Math"/>
                          </a:rPr>
                        </m:ctrlPr>
                      </m:sSubPr>
                      <m:e>
                        <m:r>
                          <a:rPr lang="en-US" sz="2000" i="1">
                            <a:latin typeface="Cambria Math"/>
                          </a:rPr>
                          <m:t>𝑛</m:t>
                        </m:r>
                      </m:e>
                      <m:sub>
                        <m:r>
                          <a:rPr lang="en-US" sz="2000" i="1">
                            <a:latin typeface="Cambria Math"/>
                          </a:rPr>
                          <m:t>𝑥</m:t>
                        </m:r>
                      </m:sub>
                    </m:sSub>
                  </m:oMath>
                </a14:m>
                <a:r>
                  <a:rPr lang="en" sz="2000" u="none" strike="noStrike" cap="none" dirty="0" smtClean="0">
                    <a:solidFill>
                      <a:schemeClr val="dk2"/>
                    </a:solidFill>
                    <a:latin typeface="+mn-lt"/>
                    <a:sym typeface="Arial"/>
                  </a:rPr>
                  <a:t> , </a:t>
                </a:r>
                <a14:m>
                  <m:oMath xmlns:m="http://schemas.openxmlformats.org/officeDocument/2006/math">
                    <m:sSub>
                      <m:sSubPr>
                        <m:ctrlPr>
                          <a:rPr lang="en-US" sz="2000" i="1">
                            <a:latin typeface="Cambria Math"/>
                          </a:rPr>
                        </m:ctrlPr>
                      </m:sSubPr>
                      <m:e>
                        <m:r>
                          <a:rPr lang="en-US" sz="2000" i="1">
                            <a:latin typeface="Cambria Math"/>
                          </a:rPr>
                          <m:t>𝑇</m:t>
                        </m:r>
                      </m:e>
                      <m:sub>
                        <m:r>
                          <a:rPr lang="en-US" sz="2000" i="1">
                            <a:latin typeface="Cambria Math"/>
                          </a:rPr>
                          <m:t>𝑥</m:t>
                        </m:r>
                      </m:sub>
                    </m:sSub>
                  </m:oMath>
                </a14:m>
                <a:r>
                  <a:rPr lang="en" sz="2000" u="none" strike="noStrike" cap="none" dirty="0" smtClean="0">
                    <a:solidFill>
                      <a:schemeClr val="dk2"/>
                    </a:solidFill>
                    <a:latin typeface="+mn-lt"/>
                    <a:sym typeface="Arial"/>
                  </a:rPr>
                  <a:t> - the size and the rank sum of the sample with bigger rank sum</a:t>
                </a:r>
              </a:p>
            </p:txBody>
          </p:sp>
        </mc:Choice>
        <mc:Fallback>
          <p:sp>
            <p:nvSpPr>
              <p:cNvPr id="73" name="Shape 73"/>
              <p:cNvSpPr txBox="1">
                <a:spLocks noGrp="1" noRot="1" noChangeAspect="1" noMove="1" noResize="1" noEditPoints="1" noAdjustHandles="1" noChangeArrowheads="1" noChangeShapeType="1" noTextEdit="1"/>
              </p:cNvSpPr>
              <p:nvPr>
                <p:ph type="body" idx="1"/>
              </p:nvPr>
            </p:nvSpPr>
            <p:spPr>
              <a:xfrm>
                <a:off x="311700" y="1024425"/>
                <a:ext cx="8220740" cy="3544500"/>
              </a:xfrm>
              <a:prstGeom prst="rect">
                <a:avLst/>
              </a:prstGeom>
              <a:blipFill rotWithShape="1">
                <a:blip r:embed="rId3"/>
                <a:stretch>
                  <a:fillRect l="-741" r="-1112"/>
                </a:stretch>
              </a:blipFill>
              <a:ln>
                <a:noFill/>
              </a:ln>
            </p:spPr>
            <p:txBody>
              <a:bodyPr/>
              <a:lstStyle/>
              <a:p>
                <a:r>
                  <a:rPr lang="ru-RU">
                    <a:noFill/>
                  </a:rPr>
                  <a:t> </a:t>
                </a:r>
              </a:p>
            </p:txBody>
          </p:sp>
        </mc:Fallback>
      </mc:AlternateContent>
    </p:spTree>
    <p:extLst>
      <p:ext uri="{BB962C8B-B14F-4D97-AF65-F5344CB8AC3E}">
        <p14:creationId xmlns:p14="http://schemas.microsoft.com/office/powerpoint/2010/main" val="14432916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Используемые методы и формулы</a:t>
            </a:r>
          </a:p>
        </p:txBody>
      </p:sp>
      <p:sp>
        <p:nvSpPr>
          <p:cNvPr id="73" name="Shape 73"/>
          <p:cNvSpPr txBox="1">
            <a:spLocks noGrp="1"/>
          </p:cNvSpPr>
          <p:nvPr>
            <p:ph type="body" idx="1"/>
          </p:nvPr>
        </p:nvSpPr>
        <p:spPr>
          <a:xfrm>
            <a:off x="311700" y="1024425"/>
            <a:ext cx="8220740" cy="1187285"/>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US" sz="2000" b="1" dirty="0" smtClean="0"/>
              <a:t>Correlation </a:t>
            </a:r>
            <a:r>
              <a:rPr lang="en-US" sz="2000" b="1" dirty="0"/>
              <a:t>coefficient </a:t>
            </a:r>
            <a:r>
              <a:rPr lang="en-US" sz="2000" dirty="0"/>
              <a:t>is a number that quantifies a type of correlation and dependence, meaning statistical relationships between two or more values in fundamental </a:t>
            </a:r>
            <a:r>
              <a:rPr lang="en-US" sz="2000" dirty="0" smtClean="0"/>
              <a:t>statistics.</a:t>
            </a:r>
          </a:p>
          <a:p>
            <a:pPr lvl="0" indent="0">
              <a:spcAft>
                <a:spcPts val="0"/>
              </a:spcAft>
              <a:buSzPct val="25000"/>
              <a:buNone/>
            </a:pPr>
            <a:endParaRPr lang="en" sz="2000" u="none" strike="noStrike" cap="none" dirty="0" smtClean="0">
              <a:solidFill>
                <a:schemeClr val="dk2"/>
              </a:solidFill>
              <a:latin typeface="+mn-lt"/>
              <a:sym typeface="Aria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211710"/>
            <a:ext cx="4248472" cy="1104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Shape 73"/>
              <p:cNvSpPr txBox="1">
                <a:spLocks/>
              </p:cNvSpPr>
              <p:nvPr/>
            </p:nvSpPr>
            <p:spPr>
              <a:xfrm>
                <a:off x="303650" y="2499742"/>
                <a:ext cx="8220740" cy="1656184"/>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lgn="ctr">
                  <a:spcAft>
                    <a:spcPts val="0"/>
                  </a:spcAft>
                  <a:buSzPct val="25000"/>
                  <a:buFont typeface="Arial"/>
                  <a:buNone/>
                </a:pPr>
                <a:r>
                  <a:rPr lang="en-US" sz="1600" dirty="0" smtClean="0"/>
                  <a:t>                                                                             </a:t>
                </a:r>
                <a:r>
                  <a:rPr lang="en-US" sz="1600" dirty="0" smtClean="0"/>
                  <a:t>where</a:t>
                </a:r>
                <a:r>
                  <a:rPr lang="en-US" sz="1600" dirty="0" smtClean="0"/>
                  <a:t>:</a:t>
                </a:r>
              </a:p>
              <a:p>
                <a:pPr indent="0" algn="ctr">
                  <a:spcAft>
                    <a:spcPts val="0"/>
                  </a:spcAft>
                  <a:buSzPct val="25000"/>
                  <a:buFont typeface="Arial"/>
                  <a:buNone/>
                </a:pPr>
                <a:endParaRPr lang="en-US" sz="1600" dirty="0"/>
              </a:p>
              <a:p>
                <a:pPr indent="0" algn="ctr">
                  <a:spcAft>
                    <a:spcPts val="0"/>
                  </a:spcAft>
                  <a:buSzPct val="25000"/>
                  <a:buNone/>
                </a:pPr>
                <a:r>
                  <a:rPr lang="en-US" sz="1600" dirty="0"/>
                  <a:t>n - </a:t>
                </a:r>
                <a:r>
                  <a:rPr lang="en-US" sz="1600" dirty="0" smtClean="0"/>
                  <a:t>the </a:t>
                </a:r>
                <a:r>
                  <a:rPr lang="en-US" sz="1600" dirty="0"/>
                  <a:t>sample </a:t>
                </a:r>
                <a:r>
                  <a:rPr lang="en-US" sz="1600" dirty="0" smtClean="0"/>
                  <a:t>size,</a:t>
                </a:r>
              </a:p>
              <a:p>
                <a:pPr indent="0" algn="ctr">
                  <a:spcAft>
                    <a:spcPts val="0"/>
                  </a:spcAft>
                  <a:buSzPct val="25000"/>
                  <a:buNone/>
                </a:pPr>
                <a14:m>
                  <m:oMath xmlns:m="http://schemas.openxmlformats.org/officeDocument/2006/math">
                    <m:sSub>
                      <m:sSubPr>
                        <m:ctrlPr>
                          <a:rPr lang="en-US" sz="2000" i="1" smtClean="0">
                            <a:latin typeface="Cambria Math"/>
                          </a:rPr>
                        </m:ctrlPr>
                      </m:sSubPr>
                      <m:e>
                        <m:r>
                          <a:rPr lang="en-US" sz="2000" b="0" i="1" smtClean="0">
                            <a:latin typeface="Cambria Math"/>
                          </a:rPr>
                          <m:t>𝑥</m:t>
                        </m:r>
                      </m:e>
                      <m:sub>
                        <m:r>
                          <a:rPr lang="en-US" sz="2000" b="0" i="1" smtClean="0">
                            <a:latin typeface="Cambria Math"/>
                          </a:rPr>
                          <m:t>𝑖</m:t>
                        </m:r>
                      </m:sub>
                    </m:sSub>
                    <m:r>
                      <a:rPr lang="en-US" sz="2000" b="0" i="1" smtClean="0">
                        <a:latin typeface="Cambria Math"/>
                      </a:rPr>
                      <m:t>,</m:t>
                    </m:r>
                    <m:sSub>
                      <m:sSubPr>
                        <m:ctrlPr>
                          <a:rPr lang="en-US" sz="2000" i="1" smtClean="0">
                            <a:latin typeface="Cambria Math"/>
                          </a:rPr>
                        </m:ctrlPr>
                      </m:sSubPr>
                      <m:e>
                        <m:r>
                          <a:rPr lang="en-US" sz="2000" b="0" i="1" smtClean="0">
                            <a:latin typeface="Cambria Math"/>
                          </a:rPr>
                          <m:t>𝑦</m:t>
                        </m:r>
                      </m:e>
                      <m:sub>
                        <m:r>
                          <a:rPr lang="en-US" sz="2000" i="1">
                            <a:latin typeface="Cambria Math"/>
                          </a:rPr>
                          <m:t>𝑖</m:t>
                        </m:r>
                      </m:sub>
                    </m:sSub>
                  </m:oMath>
                </a14:m>
                <a:r>
                  <a:rPr lang="en-US" sz="2000" dirty="0" smtClean="0"/>
                  <a:t> </a:t>
                </a:r>
                <a:r>
                  <a:rPr lang="en-US" sz="1600" dirty="0"/>
                  <a:t>are the single samples indexed with </a:t>
                </a:r>
                <a:r>
                  <a:rPr lang="en-US" sz="1600" dirty="0" smtClean="0"/>
                  <a:t>I,</a:t>
                </a:r>
              </a:p>
              <a:p>
                <a:pPr indent="0" algn="ctr">
                  <a:spcAft>
                    <a:spcPts val="0"/>
                  </a:spcAft>
                  <a:buSzPct val="25000"/>
                  <a:buNone/>
                </a:pPr>
                <a14:m>
                  <m:oMath xmlns:m="http://schemas.openxmlformats.org/officeDocument/2006/math">
                    <m:acc>
                      <m:accPr>
                        <m:chr m:val="̅"/>
                        <m:ctrlPr>
                          <a:rPr lang="en-US" sz="1600" i="1" smtClean="0">
                            <a:latin typeface="Cambria Math"/>
                          </a:rPr>
                        </m:ctrlPr>
                      </m:accPr>
                      <m:e>
                        <m:r>
                          <a:rPr lang="en-US" sz="1600" b="0" i="1" smtClean="0">
                            <a:latin typeface="Cambria Math"/>
                          </a:rPr>
                          <m:t>𝑥</m:t>
                        </m:r>
                      </m:e>
                    </m:acc>
                    <m:r>
                      <a:rPr lang="en-US" sz="1600" b="0" i="1" smtClean="0">
                        <a:latin typeface="Cambria Math"/>
                      </a:rPr>
                      <m:t>,</m:t>
                    </m:r>
                    <m:acc>
                      <m:accPr>
                        <m:chr m:val="̅"/>
                        <m:ctrlPr>
                          <a:rPr lang="en-US" sz="1600" i="1">
                            <a:latin typeface="Cambria Math"/>
                          </a:rPr>
                        </m:ctrlPr>
                      </m:accPr>
                      <m:e>
                        <m:r>
                          <a:rPr lang="en-US" sz="1600" b="0" i="1" smtClean="0">
                            <a:latin typeface="Cambria Math"/>
                          </a:rPr>
                          <m:t>𝑦</m:t>
                        </m:r>
                      </m:e>
                    </m:acc>
                  </m:oMath>
                </a14:m>
                <a:r>
                  <a:rPr lang="en-US" sz="1600" dirty="0" smtClean="0"/>
                  <a:t> are the sample mean</a:t>
                </a:r>
              </a:p>
              <a:p>
                <a:pPr indent="0">
                  <a:spcAft>
                    <a:spcPts val="0"/>
                  </a:spcAft>
                  <a:buSzPct val="25000"/>
                  <a:buFont typeface="Arial"/>
                  <a:buNone/>
                </a:pPr>
                <a:endParaRPr lang="en" sz="2000" dirty="0" smtClean="0">
                  <a:latin typeface="+mn-lt"/>
                </a:endParaRPr>
              </a:p>
            </p:txBody>
          </p:sp>
        </mc:Choice>
        <mc:Fallback xmlns="">
          <p:sp>
            <p:nvSpPr>
              <p:cNvPr id="5" name="Shape 73"/>
              <p:cNvSpPr txBox="1">
                <a:spLocks noRot="1" noChangeAspect="1" noMove="1" noResize="1" noEditPoints="1" noAdjustHandles="1" noChangeArrowheads="1" noChangeShapeType="1" noTextEdit="1"/>
              </p:cNvSpPr>
              <p:nvPr/>
            </p:nvSpPr>
            <p:spPr>
              <a:xfrm>
                <a:off x="303650" y="2499742"/>
                <a:ext cx="8220740" cy="1656184"/>
              </a:xfrm>
              <a:prstGeom prst="rect">
                <a:avLst/>
              </a:prstGeom>
              <a:blipFill rotWithShape="1">
                <a:blip r:embed="rId4"/>
                <a:stretch>
                  <a:fillRect b="-735"/>
                </a:stretch>
              </a:blipFill>
              <a:ln>
                <a:noFill/>
              </a:ln>
            </p:spPr>
            <p:txBody>
              <a:bodyPr/>
              <a:lstStyle/>
              <a:p>
                <a:r>
                  <a:rPr lang="ru-RU">
                    <a:noFill/>
                  </a:rPr>
                  <a:t> </a:t>
                </a:r>
              </a:p>
            </p:txBody>
          </p:sp>
        </mc:Fallback>
      </mc:AlternateContent>
      <p:sp>
        <p:nvSpPr>
          <p:cNvPr id="6" name="Shape 73"/>
          <p:cNvSpPr txBox="1">
            <a:spLocks/>
          </p:cNvSpPr>
          <p:nvPr/>
        </p:nvSpPr>
        <p:spPr>
          <a:xfrm>
            <a:off x="1691680" y="2382710"/>
            <a:ext cx="504056" cy="53967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US" dirty="0" smtClean="0"/>
              <a:t>(9)</a:t>
            </a:r>
            <a:endParaRPr lang="en" sz="2000" dirty="0" smtClean="0">
              <a:latin typeface="+mn-lt"/>
            </a:endParaRPr>
          </a:p>
        </p:txBody>
      </p:sp>
    </p:spTree>
    <p:extLst>
      <p:ext uri="{BB962C8B-B14F-4D97-AF65-F5344CB8AC3E}">
        <p14:creationId xmlns:p14="http://schemas.microsoft.com/office/powerpoint/2010/main" val="19320381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55" y="643439"/>
            <a:ext cx="4778895" cy="358417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401862" y="671009"/>
            <a:ext cx="4742138" cy="3556603"/>
          </a:xfrm>
          <a:prstGeom prst="rect">
            <a:avLst/>
          </a:prstGeom>
          <a:noFill/>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Результаты исследований</a:t>
            </a:r>
          </a:p>
        </p:txBody>
      </p:sp>
      <p:sp>
        <p:nvSpPr>
          <p:cNvPr id="8" name="Shape 67"/>
          <p:cNvSpPr txBox="1">
            <a:spLocks/>
          </p:cNvSpPr>
          <p:nvPr/>
        </p:nvSpPr>
        <p:spPr>
          <a:xfrm>
            <a:off x="395536" y="4102967"/>
            <a:ext cx="4176464"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3. </a:t>
            </a:r>
            <a:r>
              <a:rPr lang="en-US" sz="1100" b="1" dirty="0" smtClean="0"/>
              <a:t>ROC curve </a:t>
            </a:r>
            <a:r>
              <a:rPr lang="en-US" sz="1100" dirty="0" smtClean="0"/>
              <a:t>of the classifier family with AUC value and optimal threshold values (</a:t>
            </a:r>
            <a:r>
              <a:rPr lang="en-US" sz="1100" dirty="0" err="1" smtClean="0"/>
              <a:t>thr</a:t>
            </a:r>
            <a:r>
              <a:rPr lang="en-US" sz="1100" dirty="0" smtClean="0"/>
              <a:t>) obtained by different methods</a:t>
            </a:r>
            <a:endParaRPr lang="en" sz="1100" dirty="0"/>
          </a:p>
        </p:txBody>
      </p:sp>
      <p:sp>
        <p:nvSpPr>
          <p:cNvPr id="9" name="Shape 67"/>
          <p:cNvSpPr txBox="1">
            <a:spLocks/>
          </p:cNvSpPr>
          <p:nvPr/>
        </p:nvSpPr>
        <p:spPr>
          <a:xfrm>
            <a:off x="4918695" y="4079300"/>
            <a:ext cx="4044276"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 sz="1100" dirty="0" smtClean="0"/>
              <a:t>Figure 4. </a:t>
            </a:r>
            <a:r>
              <a:rPr lang="en-US" sz="1100" b="1" dirty="0" smtClean="0"/>
              <a:t>PR curve </a:t>
            </a:r>
            <a:r>
              <a:rPr lang="en-US" sz="1100" dirty="0" smtClean="0"/>
              <a:t>of the classifier family with </a:t>
            </a:r>
            <a:r>
              <a:rPr lang="en-US" sz="1100" dirty="0"/>
              <a:t>AUC value and </a:t>
            </a:r>
            <a:r>
              <a:rPr lang="en-US" sz="1100" dirty="0" smtClean="0"/>
              <a:t>optimal threshold values (</a:t>
            </a:r>
            <a:r>
              <a:rPr lang="en-US" sz="1100" dirty="0" err="1" smtClean="0"/>
              <a:t>thr</a:t>
            </a:r>
            <a:r>
              <a:rPr lang="en-US" sz="1100" dirty="0" smtClean="0"/>
              <a:t>) obtained by different methods</a:t>
            </a:r>
            <a:endParaRPr lang="en" sz="1100" dirty="0"/>
          </a:p>
        </p:txBody>
      </p:sp>
      <p:sp>
        <p:nvSpPr>
          <p:cNvPr id="10" name="Прямоугольник 9"/>
          <p:cNvSpPr/>
          <p:nvPr/>
        </p:nvSpPr>
        <p:spPr>
          <a:xfrm>
            <a:off x="1691680" y="915566"/>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1" name="Прямоугольник 10"/>
          <p:cNvSpPr/>
          <p:nvPr/>
        </p:nvSpPr>
        <p:spPr>
          <a:xfrm>
            <a:off x="6256757" y="843558"/>
            <a:ext cx="136815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13" name="Прямоугольник 12"/>
          <p:cNvSpPr/>
          <p:nvPr/>
        </p:nvSpPr>
        <p:spPr>
          <a:xfrm>
            <a:off x="8047434" y="3219822"/>
            <a:ext cx="1008112" cy="608856"/>
          </a:xfrm>
          <a:prstGeom prst="rect">
            <a:avLst/>
          </a:prstGeom>
          <a:solidFill>
            <a:srgbClr val="FFA59B"/>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4" name="Прямоугольник 3"/>
          <p:cNvSpPr/>
          <p:nvPr/>
        </p:nvSpPr>
        <p:spPr>
          <a:xfrm>
            <a:off x="8040231" y="2250926"/>
            <a:ext cx="1008112" cy="608856"/>
          </a:xfrm>
          <a:prstGeom prst="rect">
            <a:avLst/>
          </a:prstGeom>
          <a:solidFill>
            <a:srgbClr val="9CFEA5"/>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mc:AlternateContent xmlns:mc="http://schemas.openxmlformats.org/markup-compatibility/2006">
        <mc:Choice xmlns:a14="http://schemas.microsoft.com/office/drawing/2010/main" Requires="a14">
          <p:sp>
            <p:nvSpPr>
              <p:cNvPr id="11" name="Shape 73"/>
              <p:cNvSpPr txBox="1">
                <a:spLocks/>
              </p:cNvSpPr>
              <p:nvPr/>
            </p:nvSpPr>
            <p:spPr>
              <a:xfrm>
                <a:off x="7992606" y="2130920"/>
                <a:ext cx="1191685" cy="1687067"/>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14:m>
                  <m:oMathPara xmlns:m="http://schemas.openxmlformats.org/officeDocument/2006/math">
                    <m:oMathParaPr>
                      <m:jc m:val="centerGroup"/>
                    </m:oMathParaPr>
                    <m:oMath xmlns:m="http://schemas.openxmlformats.org/officeDocument/2006/math">
                      <m:sSub>
                        <m:sSubPr>
                          <m:ctrlPr>
                            <a:rPr lang="en" i="1" dirty="0" smtClean="0">
                              <a:solidFill>
                                <a:schemeClr val="bg2"/>
                              </a:solidFill>
                              <a:latin typeface="Cambria Math"/>
                            </a:rPr>
                          </m:ctrlPr>
                        </m:sSubPr>
                        <m:e>
                          <m:r>
                            <m:rPr>
                              <m:sty m:val="p"/>
                            </m:rPr>
                            <a:rPr lang="en-US" dirty="0">
                              <a:solidFill>
                                <a:schemeClr val="bg2"/>
                              </a:solidFill>
                              <a:latin typeface="Cambria Math"/>
                            </a:rPr>
                            <m:t>T</m:t>
                          </m:r>
                        </m:e>
                        <m:sub>
                          <m:r>
                            <m:rPr>
                              <m:sty m:val="p"/>
                            </m:rPr>
                            <a:rPr lang="en-US" b="0" i="0" dirty="0" smtClean="0">
                              <a:solidFill>
                                <a:schemeClr val="bg2"/>
                              </a:solidFill>
                              <a:latin typeface="Cambria Math"/>
                            </a:rPr>
                            <m:t>n</m:t>
                          </m:r>
                        </m:sub>
                      </m:sSub>
                      <m:r>
                        <a:rPr lang="en-US" dirty="0">
                          <a:solidFill>
                            <a:schemeClr val="bg2"/>
                          </a:solidFill>
                          <a:latin typeface="Cambria Math"/>
                        </a:rPr>
                        <m:t>=</m:t>
                      </m:r>
                      <m:r>
                        <a:rPr lang="en-US" b="0" i="0" dirty="0" smtClean="0">
                          <a:solidFill>
                            <a:schemeClr val="bg2"/>
                          </a:solidFill>
                          <a:latin typeface="Cambria Math"/>
                        </a:rPr>
                        <m:t>6</m:t>
                      </m:r>
                      <m:r>
                        <a:rPr lang="en-US" dirty="0">
                          <a:solidFill>
                            <a:schemeClr val="bg2"/>
                          </a:solidFill>
                          <a:latin typeface="Cambria Math"/>
                        </a:rPr>
                        <m:t> </m:t>
                      </m:r>
                    </m:oMath>
                  </m:oMathPara>
                </a14:m>
                <a:endParaRPr lang="en-US" dirty="0">
                  <a:solidFill>
                    <a:schemeClr val="bg2"/>
                  </a:solidFill>
                  <a:latin typeface="Cambria Math"/>
                </a:endParaRPr>
              </a:p>
              <a:p>
                <a:pPr indent="0">
                  <a:spcAft>
                    <a:spcPts val="0"/>
                  </a:spcAft>
                  <a:buSzPct val="25000"/>
                  <a:buNone/>
                </a:pPr>
                <a14:m>
                  <m:oMathPara xmlns:m="http://schemas.openxmlformats.org/officeDocument/2006/math">
                    <m:oMathParaPr>
                      <m:jc m:val="centerGroup"/>
                    </m:oMathParaPr>
                    <m:oMath xmlns:m="http://schemas.openxmlformats.org/officeDocument/2006/math">
                      <m:sSub>
                        <m:sSubPr>
                          <m:ctrlPr>
                            <a:rPr lang="en-US" i="1" dirty="0">
                              <a:solidFill>
                                <a:schemeClr val="bg2"/>
                              </a:solidFill>
                              <a:latin typeface="Cambria Math"/>
                            </a:rPr>
                          </m:ctrlPr>
                        </m:sSubPr>
                        <m:e>
                          <m:r>
                            <m:rPr>
                              <m:sty m:val="p"/>
                            </m:rPr>
                            <a:rPr lang="en-US" dirty="0">
                              <a:solidFill>
                                <a:schemeClr val="bg2"/>
                              </a:solidFill>
                              <a:latin typeface="Cambria Math"/>
                            </a:rPr>
                            <m:t>n</m:t>
                          </m:r>
                        </m:e>
                        <m:sub>
                          <m:r>
                            <m:rPr>
                              <m:sty m:val="p"/>
                            </m:rPr>
                            <a:rPr lang="en-US" b="0" i="0" dirty="0" smtClean="0">
                              <a:solidFill>
                                <a:schemeClr val="bg2"/>
                              </a:solidFill>
                              <a:latin typeface="Cambria Math"/>
                            </a:rPr>
                            <m:t>n</m:t>
                          </m:r>
                        </m:sub>
                      </m:sSub>
                      <m:r>
                        <a:rPr lang="en-US" dirty="0">
                          <a:solidFill>
                            <a:schemeClr val="bg2"/>
                          </a:solidFill>
                          <a:latin typeface="Cambria Math"/>
                        </a:rPr>
                        <m:t>=3</m:t>
                      </m:r>
                    </m:oMath>
                  </m:oMathPara>
                </a14:m>
                <a:endParaRPr lang="en" dirty="0" smtClean="0">
                  <a:solidFill>
                    <a:schemeClr val="bg2"/>
                  </a:solidFill>
                  <a:latin typeface="Cambria Math"/>
                </a:endParaRPr>
              </a:p>
              <a:p>
                <a:pPr indent="0">
                  <a:spcAft>
                    <a:spcPts val="0"/>
                  </a:spcAft>
                  <a:buSzPct val="25000"/>
                  <a:buFont typeface="Arial"/>
                  <a:buNone/>
                </a:pPr>
                <a:endParaRPr lang="en" dirty="0">
                  <a:solidFill>
                    <a:schemeClr val="bg2"/>
                  </a:solidFill>
                  <a:latin typeface="Cambria Math"/>
                </a:endParaRPr>
              </a:p>
              <a:p>
                <a:pPr indent="0">
                  <a:spcAft>
                    <a:spcPts val="0"/>
                  </a:spcAft>
                  <a:buSzPct val="25000"/>
                  <a:buFont typeface="Arial"/>
                  <a:buNone/>
                </a:pPr>
                <a14:m>
                  <m:oMathPara xmlns:m="http://schemas.openxmlformats.org/officeDocument/2006/math">
                    <m:oMathParaPr>
                      <m:jc m:val="centerGroup"/>
                    </m:oMathParaPr>
                    <m:oMath xmlns:m="http://schemas.openxmlformats.org/officeDocument/2006/math">
                      <m:sSub>
                        <m:sSubPr>
                          <m:ctrlPr>
                            <a:rPr lang="en" dirty="0" smtClean="0">
                              <a:solidFill>
                                <a:schemeClr val="bg2"/>
                              </a:solidFill>
                              <a:latin typeface="Cambria Math"/>
                            </a:rPr>
                          </m:ctrlPr>
                        </m:sSubPr>
                        <m:e>
                          <m:r>
                            <m:rPr>
                              <m:sty m:val="p"/>
                            </m:rPr>
                            <a:rPr lang="en-US" b="0" i="0" dirty="0" smtClean="0">
                              <a:solidFill>
                                <a:schemeClr val="bg2"/>
                              </a:solidFill>
                              <a:latin typeface="Cambria Math"/>
                            </a:rPr>
                            <m:t>T</m:t>
                          </m:r>
                        </m:e>
                        <m:sub>
                          <m:r>
                            <m:rPr>
                              <m:sty m:val="p"/>
                            </m:rPr>
                            <a:rPr lang="en-US" b="0" i="0" dirty="0" smtClean="0">
                              <a:solidFill>
                                <a:schemeClr val="bg2"/>
                              </a:solidFill>
                              <a:latin typeface="Cambria Math"/>
                            </a:rPr>
                            <m:t>p</m:t>
                          </m:r>
                        </m:sub>
                      </m:sSub>
                      <m:r>
                        <a:rPr lang="en-US" b="0" i="0" dirty="0" smtClean="0">
                          <a:solidFill>
                            <a:schemeClr val="bg2"/>
                          </a:solidFill>
                          <a:latin typeface="Cambria Math"/>
                        </a:rPr>
                        <m:t>=15 </m:t>
                      </m:r>
                    </m:oMath>
                  </m:oMathPara>
                </a14:m>
                <a:endParaRPr lang="en-US" b="0" i="0" dirty="0" smtClean="0">
                  <a:solidFill>
                    <a:schemeClr val="bg2"/>
                  </a:solidFill>
                  <a:latin typeface="Cambria Math"/>
                </a:endParaRPr>
              </a:p>
              <a:p>
                <a:pPr indent="0">
                  <a:spcAft>
                    <a:spcPts val="0"/>
                  </a:spcAft>
                  <a:buSzPct val="25000"/>
                  <a:buFont typeface="Arial"/>
                  <a:buNone/>
                </a:pPr>
                <a14:m>
                  <m:oMathPara xmlns:m="http://schemas.openxmlformats.org/officeDocument/2006/math">
                    <m:oMathParaPr>
                      <m:jc m:val="centerGroup"/>
                    </m:oMathParaPr>
                    <m:oMath xmlns:m="http://schemas.openxmlformats.org/officeDocument/2006/math">
                      <m:sSub>
                        <m:sSubPr>
                          <m:ctrlPr>
                            <a:rPr lang="en-US" b="0" dirty="0" smtClean="0">
                              <a:solidFill>
                                <a:schemeClr val="bg2"/>
                              </a:solidFill>
                              <a:latin typeface="Cambria Math"/>
                            </a:rPr>
                          </m:ctrlPr>
                        </m:sSubPr>
                        <m:e>
                          <m:r>
                            <m:rPr>
                              <m:sty m:val="p"/>
                            </m:rPr>
                            <a:rPr lang="en-US" b="0" i="0" dirty="0" smtClean="0">
                              <a:solidFill>
                                <a:schemeClr val="bg2"/>
                              </a:solidFill>
                              <a:latin typeface="Cambria Math"/>
                            </a:rPr>
                            <m:t>n</m:t>
                          </m:r>
                        </m:e>
                        <m:sub>
                          <m:r>
                            <m:rPr>
                              <m:sty m:val="p"/>
                            </m:rPr>
                            <a:rPr lang="en-US" b="0" i="0" dirty="0" smtClean="0">
                              <a:solidFill>
                                <a:schemeClr val="bg2"/>
                              </a:solidFill>
                              <a:latin typeface="Cambria Math"/>
                            </a:rPr>
                            <m:t>p</m:t>
                          </m:r>
                        </m:sub>
                      </m:sSub>
                      <m:r>
                        <a:rPr lang="en-US" b="0" i="0" dirty="0" smtClean="0">
                          <a:solidFill>
                            <a:schemeClr val="bg2"/>
                          </a:solidFill>
                          <a:latin typeface="Cambria Math"/>
                        </a:rPr>
                        <m:t>=3</m:t>
                      </m:r>
                    </m:oMath>
                  </m:oMathPara>
                </a14:m>
                <a:endParaRPr lang="en" dirty="0" smtClean="0">
                  <a:solidFill>
                    <a:schemeClr val="bg2"/>
                  </a:solidFill>
                  <a:latin typeface="+mn-lt"/>
                </a:endParaRPr>
              </a:p>
            </p:txBody>
          </p:sp>
        </mc:Choice>
        <mc:Fallback>
          <p:sp>
            <p:nvSpPr>
              <p:cNvPr id="11" name="Shape 73"/>
              <p:cNvSpPr txBox="1">
                <a:spLocks noRot="1" noChangeAspect="1" noMove="1" noResize="1" noEditPoints="1" noAdjustHandles="1" noChangeArrowheads="1" noChangeShapeType="1" noTextEdit="1"/>
              </p:cNvSpPr>
              <p:nvPr/>
            </p:nvSpPr>
            <p:spPr>
              <a:xfrm>
                <a:off x="7992606" y="2130920"/>
                <a:ext cx="1191685" cy="1687067"/>
              </a:xfrm>
              <a:prstGeom prst="rect">
                <a:avLst/>
              </a:prstGeom>
              <a:blipFill rotWithShape="1">
                <a:blip r:embed="rId3"/>
                <a:stretch>
                  <a:fillRect b="-5797"/>
                </a:stretch>
              </a:blipFill>
              <a:ln>
                <a:no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5" name="Shape 73"/>
              <p:cNvSpPr txBox="1">
                <a:spLocks noGrp="1"/>
              </p:cNvSpPr>
              <p:nvPr>
                <p:ph type="body" idx="1"/>
              </p:nvPr>
            </p:nvSpPr>
            <p:spPr>
              <a:xfrm>
                <a:off x="311700" y="1024425"/>
                <a:ext cx="822074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US" sz="2000" b="1" dirty="0" smtClean="0"/>
                  <a:t>Mann–Whitney </a:t>
                </a:r>
                <a:r>
                  <a:rPr lang="en-US" sz="2000" b="1" i="1" dirty="0"/>
                  <a:t>U</a:t>
                </a:r>
                <a:r>
                  <a:rPr lang="en-US" sz="2000" b="1" dirty="0"/>
                  <a:t> </a:t>
                </a:r>
                <a:r>
                  <a:rPr lang="en-US" sz="2000" b="1" dirty="0" smtClean="0"/>
                  <a:t>test</a:t>
                </a:r>
              </a:p>
              <a:p>
                <a:pPr lvl="0" indent="0">
                  <a:spcAft>
                    <a:spcPts val="0"/>
                  </a:spcAft>
                  <a:buSzPct val="25000"/>
                  <a:buNone/>
                </a:pPr>
                <a:r>
                  <a:rPr lang="en-US" sz="1600" b="1" u="none" strike="noStrike" cap="none" dirty="0" smtClean="0">
                    <a:solidFill>
                      <a:schemeClr val="dk2"/>
                    </a:solidFill>
                    <a:latin typeface="+mn-lt"/>
                    <a:sym typeface="Arial"/>
                  </a:rPr>
                  <a:t>H0: </a:t>
                </a:r>
                <a:r>
                  <a:rPr lang="en-US" sz="1600" u="none" strike="noStrike" cap="none" dirty="0" smtClean="0">
                    <a:solidFill>
                      <a:schemeClr val="dk2"/>
                    </a:solidFill>
                    <a:latin typeface="+mn-lt"/>
                    <a:sym typeface="Arial"/>
                  </a:rPr>
                  <a:t>scores of the positive sample is greater than scores of the negative sample</a:t>
                </a:r>
              </a:p>
              <a:p>
                <a:pPr lvl="0" indent="0">
                  <a:spcAft>
                    <a:spcPts val="0"/>
                  </a:spcAft>
                  <a:buSzPct val="25000"/>
                  <a:buNone/>
                </a:pPr>
                <a:r>
                  <a:rPr lang="en-US" sz="1600" b="1" dirty="0" smtClean="0">
                    <a:latin typeface="+mn-lt"/>
                  </a:rPr>
                  <a:t>H1:</a:t>
                </a:r>
                <a:r>
                  <a:rPr lang="en-US" sz="1600" dirty="0" smtClean="0">
                    <a:latin typeface="+mn-lt"/>
                  </a:rPr>
                  <a:t> scores of the positive sample is not greater than scores of the negative sample</a:t>
                </a:r>
              </a:p>
              <a:p>
                <a:pPr lvl="0" indent="0">
                  <a:spcAft>
                    <a:spcPts val="0"/>
                  </a:spcAft>
                  <a:buSzPct val="25000"/>
                  <a:buNone/>
                </a:pPr>
                <a:r>
                  <a:rPr lang="en" sz="1600" u="none" strike="noStrike" cap="none" dirty="0" smtClean="0">
                    <a:solidFill>
                      <a:schemeClr val="dk2"/>
                    </a:solidFill>
                    <a:sym typeface="Arial"/>
                  </a:rPr>
                  <a:t>   </a:t>
                </a:r>
                <a14:m>
                  <m:oMath xmlns:m="http://schemas.openxmlformats.org/officeDocument/2006/math">
                    <m:sSub>
                      <m:sSubPr>
                        <m:ctrlPr>
                          <a:rPr lang="en" sz="1600" u="none" strike="noStrike" cap="none" dirty="0" smtClean="0">
                            <a:solidFill>
                              <a:schemeClr val="dk2"/>
                            </a:solidFill>
                            <a:latin typeface="Cambria Math"/>
                            <a:sym typeface="Arial"/>
                          </a:rPr>
                        </m:ctrlPr>
                      </m:sSubPr>
                      <m:e>
                        <m:r>
                          <m:rPr>
                            <m:sty m:val="p"/>
                          </m:rPr>
                          <a:rPr lang="en-US" sz="1600" b="0" i="0" u="none" strike="noStrike" cap="none" dirty="0" smtClean="0">
                            <a:solidFill>
                              <a:schemeClr val="dk2"/>
                            </a:solidFill>
                            <a:latin typeface="Cambria Math"/>
                            <a:sym typeface="Arial"/>
                          </a:rPr>
                          <m:t>U</m:t>
                        </m:r>
                      </m:e>
                      <m:sub>
                        <m:r>
                          <m:rPr>
                            <m:sty m:val="p"/>
                          </m:rPr>
                          <a:rPr lang="en-US" sz="1600" b="0" i="0" u="none" strike="noStrike" cap="none" dirty="0" smtClean="0">
                            <a:solidFill>
                              <a:schemeClr val="dk2"/>
                            </a:solidFill>
                            <a:latin typeface="Cambria Math"/>
                            <a:sym typeface="Arial"/>
                          </a:rPr>
                          <m:t>emp</m:t>
                        </m:r>
                      </m:sub>
                    </m:sSub>
                  </m:oMath>
                </a14:m>
                <a:r>
                  <a:rPr lang="en" sz="1600" u="none" strike="noStrike" cap="none" dirty="0" smtClean="0">
                    <a:solidFill>
                      <a:schemeClr val="dk2"/>
                    </a:solidFill>
                    <a:latin typeface="+mn-lt"/>
                    <a:sym typeface="Arial"/>
                  </a:rPr>
                  <a:t> </a:t>
                </a:r>
                <a:r>
                  <a:rPr lang="en" sz="1600" dirty="0">
                    <a:latin typeface="+mn-lt"/>
                  </a:rPr>
                  <a:t>= </a:t>
                </a:r>
                <a:r>
                  <a:rPr lang="en" sz="1600" dirty="0" smtClean="0">
                    <a:latin typeface="+mn-lt"/>
                  </a:rPr>
                  <a:t>94 </a:t>
                </a:r>
              </a:p>
              <a:p>
                <a:pPr indent="0">
                  <a:spcAft>
                    <a:spcPts val="0"/>
                  </a:spcAft>
                  <a:buSzPct val="25000"/>
                  <a:buNone/>
                </a:pPr>
                <a:r>
                  <a:rPr lang="en" sz="1600" dirty="0" smtClean="0"/>
                  <a:t>   </a:t>
                </a:r>
                <a14:m>
                  <m:oMath xmlns:m="http://schemas.openxmlformats.org/officeDocument/2006/math">
                    <m:sSub>
                      <m:sSubPr>
                        <m:ctrlPr>
                          <a:rPr lang="en" sz="1600" i="1" dirty="0">
                            <a:latin typeface="Cambria Math"/>
                          </a:rPr>
                        </m:ctrlPr>
                      </m:sSubPr>
                      <m:e>
                        <m:r>
                          <m:rPr>
                            <m:sty m:val="p"/>
                          </m:rPr>
                          <a:rPr lang="en-US" sz="1600" dirty="0">
                            <a:latin typeface="Cambria Math"/>
                          </a:rPr>
                          <m:t>U</m:t>
                        </m:r>
                      </m:e>
                      <m:sub>
                        <m:r>
                          <m:rPr>
                            <m:sty m:val="p"/>
                          </m:rPr>
                          <a:rPr lang="en-US" sz="1600" b="0" i="0" dirty="0" smtClean="0">
                            <a:latin typeface="Cambria Math"/>
                          </a:rPr>
                          <m:t>cr</m:t>
                        </m:r>
                      </m:sub>
                    </m:sSub>
                  </m:oMath>
                </a14:m>
                <a:r>
                  <a:rPr lang="en" sz="1600" dirty="0"/>
                  <a:t> = </a:t>
                </a:r>
                <a:r>
                  <a:rPr lang="en" sz="1600" dirty="0" smtClean="0"/>
                  <a:t>557 (</a:t>
                </a:r>
                <a:r>
                  <a:rPr lang="en-US" sz="1600" i="1" dirty="0" smtClean="0"/>
                  <a:t>p</a:t>
                </a:r>
                <a:r>
                  <a:rPr lang="en-US" sz="1600" dirty="0" smtClean="0"/>
                  <a:t> = 0.01</a:t>
                </a:r>
                <a:r>
                  <a:rPr lang="en" sz="1600" dirty="0" smtClean="0"/>
                  <a:t>)</a:t>
                </a:r>
              </a:p>
              <a:p>
                <a:pPr indent="0">
                  <a:spcAft>
                    <a:spcPts val="0"/>
                  </a:spcAft>
                  <a:buSzPct val="25000"/>
                  <a:buNone/>
                </a:pPr>
                <a:r>
                  <a:rPr lang="en" sz="1600" dirty="0"/>
                  <a:t> </a:t>
                </a:r>
                <a:r>
                  <a:rPr lang="en" sz="1600" dirty="0" smtClean="0"/>
                  <a:t>  </a:t>
                </a:r>
                <a14:m>
                  <m:oMath xmlns:m="http://schemas.openxmlformats.org/officeDocument/2006/math">
                    <m:sSub>
                      <m:sSubPr>
                        <m:ctrlPr>
                          <a:rPr lang="en" sz="1600" i="1" dirty="0">
                            <a:latin typeface="Cambria Math"/>
                          </a:rPr>
                        </m:ctrlPr>
                      </m:sSubPr>
                      <m:e>
                        <m:r>
                          <m:rPr>
                            <m:sty m:val="p"/>
                          </m:rPr>
                          <a:rPr lang="en-US" sz="1600" dirty="0">
                            <a:latin typeface="Cambria Math"/>
                          </a:rPr>
                          <m:t>U</m:t>
                        </m:r>
                      </m:e>
                      <m:sub>
                        <m:r>
                          <m:rPr>
                            <m:sty m:val="p"/>
                          </m:rPr>
                          <a:rPr lang="en-US" sz="1600" dirty="0">
                            <a:latin typeface="Cambria Math"/>
                          </a:rPr>
                          <m:t>emp</m:t>
                        </m:r>
                      </m:sub>
                    </m:sSub>
                  </m:oMath>
                </a14:m>
                <a:r>
                  <a:rPr lang="en" sz="1600" dirty="0" smtClean="0"/>
                  <a:t> &lt; </a:t>
                </a:r>
                <a14:m>
                  <m:oMath xmlns:m="http://schemas.openxmlformats.org/officeDocument/2006/math">
                    <m:sSub>
                      <m:sSubPr>
                        <m:ctrlPr>
                          <a:rPr lang="en" sz="1600" i="1" dirty="0">
                            <a:latin typeface="Cambria Math"/>
                          </a:rPr>
                        </m:ctrlPr>
                      </m:sSubPr>
                      <m:e>
                        <m:r>
                          <a:rPr lang="en-US" sz="1600" dirty="0">
                            <a:latin typeface="Cambria Math"/>
                          </a:rPr>
                          <m:t> </m:t>
                        </m:r>
                        <m:r>
                          <m:rPr>
                            <m:sty m:val="p"/>
                          </m:rPr>
                          <a:rPr lang="en-US" sz="1600" dirty="0">
                            <a:latin typeface="Cambria Math"/>
                          </a:rPr>
                          <m:t>U</m:t>
                        </m:r>
                      </m:e>
                      <m:sub>
                        <m:r>
                          <m:rPr>
                            <m:sty m:val="p"/>
                          </m:rPr>
                          <a:rPr lang="en-US" sz="1600" dirty="0">
                            <a:latin typeface="Cambria Math"/>
                          </a:rPr>
                          <m:t>cr</m:t>
                        </m:r>
                      </m:sub>
                    </m:sSub>
                  </m:oMath>
                </a14:m>
                <a:r>
                  <a:rPr lang="en" sz="1600" dirty="0" smtClean="0"/>
                  <a:t>             H0 is accepted</a:t>
                </a:r>
              </a:p>
              <a:p>
                <a:pPr indent="0">
                  <a:spcAft>
                    <a:spcPts val="0"/>
                  </a:spcAft>
                  <a:buSzPct val="25000"/>
                  <a:buNone/>
                </a:pPr>
                <a:r>
                  <a:rPr lang="en" sz="1600" dirty="0"/>
                  <a:t> </a:t>
                </a:r>
                <a:r>
                  <a:rPr lang="en" sz="1600" dirty="0" smtClean="0"/>
                  <a:t>  p-value = </a:t>
                </a:r>
                <a:r>
                  <a:rPr lang="en" sz="1600" dirty="0" smtClean="0">
                    <a:latin typeface="+mn-lt"/>
                  </a:rPr>
                  <a:t>2.52 * </a:t>
                </a:r>
                <a14:m>
                  <m:oMath xmlns:m="http://schemas.openxmlformats.org/officeDocument/2006/math">
                    <m:sSup>
                      <m:sSupPr>
                        <m:ctrlPr>
                          <a:rPr lang="en" sz="1600" dirty="0" smtClean="0">
                            <a:latin typeface="+mn-lt"/>
                          </a:rPr>
                        </m:ctrlPr>
                      </m:sSupPr>
                      <m:e>
                        <m:r>
                          <a:rPr lang="en-US" sz="1600" b="0" i="0" dirty="0" smtClean="0">
                            <a:latin typeface="+mn-lt"/>
                          </a:rPr>
                          <m:t>10</m:t>
                        </m:r>
                      </m:e>
                      <m:sup>
                        <m:r>
                          <a:rPr lang="en-US" sz="1600" b="0" i="0" dirty="0" smtClean="0">
                            <a:latin typeface="+mn-lt"/>
                          </a:rPr>
                          <m:t>−12</m:t>
                        </m:r>
                      </m:sup>
                    </m:sSup>
                  </m:oMath>
                </a14:m>
                <a:endParaRPr lang="en" sz="1600" u="none" strike="noStrike" cap="none" dirty="0" smtClean="0">
                  <a:solidFill>
                    <a:schemeClr val="dk2"/>
                  </a:solidFill>
                  <a:latin typeface="+mn-lt"/>
                  <a:sym typeface="Arial"/>
                </a:endParaRPr>
              </a:p>
            </p:txBody>
          </p:sp>
        </mc:Choice>
        <mc:Fallback>
          <p:sp>
            <p:nvSpPr>
              <p:cNvPr id="5" name="Shape 73"/>
              <p:cNvSpPr txBox="1">
                <a:spLocks noGrp="1" noRot="1" noChangeAspect="1" noMove="1" noResize="1" noEditPoints="1" noAdjustHandles="1" noChangeArrowheads="1" noChangeShapeType="1" noTextEdit="1"/>
              </p:cNvSpPr>
              <p:nvPr>
                <p:ph type="body" idx="1"/>
              </p:nvPr>
            </p:nvSpPr>
            <p:spPr>
              <a:xfrm>
                <a:off x="311700" y="1024425"/>
                <a:ext cx="8220740" cy="3544500"/>
              </a:xfrm>
              <a:prstGeom prst="rect">
                <a:avLst/>
              </a:prstGeom>
              <a:blipFill rotWithShape="1">
                <a:blip r:embed="rId4"/>
                <a:stretch>
                  <a:fillRect l="-741"/>
                </a:stretch>
              </a:blipFill>
              <a:ln>
                <a:noFill/>
              </a:ln>
            </p:spPr>
            <p:txBody>
              <a:bodyPr/>
              <a:lstStyle/>
              <a:p>
                <a:r>
                  <a:rPr lang="ru-RU">
                    <a:noFill/>
                  </a:rPr>
                  <a:t> </a:t>
                </a:r>
              </a:p>
            </p:txBody>
          </p:sp>
        </mc:Fallback>
      </mc:AlternateContent>
      <p:pic>
        <p:nvPicPr>
          <p:cNvPr id="2053" name="Picture 5" descr="D:\Users\Kharitonov_E\Dropbox\MEPhI\3M_Maching_learning\lab1\task2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912" y="2139702"/>
            <a:ext cx="3451662" cy="1728192"/>
          </a:xfrm>
          <a:prstGeom prst="rect">
            <a:avLst/>
          </a:prstGeom>
          <a:ln w="3175" cap="sq">
            <a:solidFill>
              <a:schemeClr val="bg2"/>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Результаты исследований</a:t>
            </a:r>
          </a:p>
        </p:txBody>
      </p:sp>
      <p:sp>
        <p:nvSpPr>
          <p:cNvPr id="3" name="Стрелка вправо 2"/>
          <p:cNvSpPr/>
          <p:nvPr/>
        </p:nvSpPr>
        <p:spPr>
          <a:xfrm>
            <a:off x="1733886" y="2715766"/>
            <a:ext cx="504056" cy="144016"/>
          </a:xfrm>
          <a:prstGeom prst="rightArrow">
            <a:avLst/>
          </a:prstGeom>
          <a:solidFill>
            <a:schemeClr val="bg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052" name="Picture 4" descr="D:\Users\Kharitonov_E\Dropbox\MEPhI\3M_Maching_learning\lab1\task2_2.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6296" y="2139702"/>
            <a:ext cx="636202" cy="1728192"/>
          </a:xfrm>
          <a:prstGeom prst="rect">
            <a:avLst/>
          </a:prstGeom>
          <a:ln w="3175" cap="sq">
            <a:solidFill>
              <a:schemeClr val="bg2"/>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4" name="Shape 67"/>
          <p:cNvSpPr txBox="1">
            <a:spLocks/>
          </p:cNvSpPr>
          <p:nvPr/>
        </p:nvSpPr>
        <p:spPr>
          <a:xfrm>
            <a:off x="3779911" y="3939902"/>
            <a:ext cx="4764375" cy="432048"/>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5. </a:t>
            </a:r>
            <a:r>
              <a:rPr lang="en-US" sz="1100" dirty="0" smtClean="0"/>
              <a:t>Simple example of Mann-Whitney’s sums of ranks calculation</a:t>
            </a:r>
            <a:endParaRPr lang="en" sz="1100" dirty="0"/>
          </a:p>
        </p:txBody>
      </p:sp>
    </p:spTree>
    <p:extLst>
      <p:ext uri="{BB962C8B-B14F-4D97-AF65-F5344CB8AC3E}">
        <p14:creationId xmlns:p14="http://schemas.microsoft.com/office/powerpoint/2010/main" val="205362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55" y="643439"/>
            <a:ext cx="4778894" cy="358417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401862" y="671009"/>
            <a:ext cx="4742137" cy="3556603"/>
          </a:xfrm>
          <a:prstGeom prst="rect">
            <a:avLst/>
          </a:prstGeom>
          <a:noFill/>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Результаты исследований</a:t>
            </a:r>
          </a:p>
        </p:txBody>
      </p:sp>
      <p:sp>
        <p:nvSpPr>
          <p:cNvPr id="8" name="Shape 67"/>
          <p:cNvSpPr txBox="1">
            <a:spLocks/>
          </p:cNvSpPr>
          <p:nvPr/>
        </p:nvSpPr>
        <p:spPr>
          <a:xfrm>
            <a:off x="395536" y="4102967"/>
            <a:ext cx="4320480"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Font typeface="Arial"/>
              <a:buNone/>
            </a:pPr>
            <a:r>
              <a:rPr lang="en" sz="1100" dirty="0" smtClean="0"/>
              <a:t>Figure 6. </a:t>
            </a:r>
            <a:r>
              <a:rPr lang="en-US" sz="1100" dirty="0" smtClean="0"/>
              <a:t>ROC curve AUC dependency from the Sample size</a:t>
            </a:r>
            <a:r>
              <a:rPr lang="en-US" sz="1100" dirty="0"/>
              <a:t> </a:t>
            </a:r>
            <a:r>
              <a:rPr lang="en-US" sz="1100" dirty="0" smtClean="0"/>
              <a:t>plot</a:t>
            </a:r>
            <a:endParaRPr lang="en" sz="1100" dirty="0"/>
          </a:p>
        </p:txBody>
      </p:sp>
      <p:sp>
        <p:nvSpPr>
          <p:cNvPr id="9" name="Shape 67"/>
          <p:cNvSpPr txBox="1">
            <a:spLocks/>
          </p:cNvSpPr>
          <p:nvPr/>
        </p:nvSpPr>
        <p:spPr>
          <a:xfrm>
            <a:off x="4918695" y="4079300"/>
            <a:ext cx="4225304"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 sz="1100" dirty="0" smtClean="0"/>
              <a:t>Figure 7. </a:t>
            </a:r>
            <a:r>
              <a:rPr lang="en-US" sz="1100" dirty="0" smtClean="0"/>
              <a:t>PR </a:t>
            </a:r>
            <a:r>
              <a:rPr lang="en-US" sz="1100" dirty="0"/>
              <a:t>curve AUC dependency from the Sample size plot</a:t>
            </a:r>
            <a:endParaRPr lang="en" sz="1100" dirty="0"/>
          </a:p>
        </p:txBody>
      </p:sp>
      <p:sp>
        <p:nvSpPr>
          <p:cNvPr id="10" name="Прямоугольник 9"/>
          <p:cNvSpPr/>
          <p:nvPr/>
        </p:nvSpPr>
        <p:spPr>
          <a:xfrm>
            <a:off x="1115616" y="915566"/>
            <a:ext cx="2736304"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1" name="Прямоугольник 10"/>
          <p:cNvSpPr/>
          <p:nvPr/>
        </p:nvSpPr>
        <p:spPr>
          <a:xfrm>
            <a:off x="5580112" y="843558"/>
            <a:ext cx="2448271"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Tree>
    <p:extLst>
      <p:ext uri="{BB962C8B-B14F-4D97-AF65-F5344CB8AC3E}">
        <p14:creationId xmlns:p14="http://schemas.microsoft.com/office/powerpoint/2010/main" val="42629514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55" y="643439"/>
            <a:ext cx="4778894" cy="3584170"/>
          </a:xfrm>
          <a:prstGeom prst="rect">
            <a:avLst/>
          </a:prstGeom>
          <a:noFill/>
          <a:extLst>
            <a:ext uri="{909E8E84-426E-40DD-AFC4-6F175D3DCCD1}">
              <a14:hiddenFill xmlns:a14="http://schemas.microsoft.com/office/drawing/2010/main">
                <a:solidFill>
                  <a:srgbClr val="FFFFFF"/>
                </a:solidFill>
              </a14:hiddenFill>
            </a:ext>
          </a:extLst>
        </p:spPr>
      </p:pic>
      <p:sp>
        <p:nvSpPr>
          <p:cNvPr id="78" name="Shape 78"/>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dirty="0">
                <a:solidFill>
                  <a:schemeClr val="dk1"/>
                </a:solidFill>
                <a:latin typeface="Arial"/>
                <a:ea typeface="Arial"/>
                <a:cs typeface="Arial"/>
                <a:sym typeface="Arial"/>
              </a:rPr>
              <a:t>Результаты исследований</a:t>
            </a:r>
          </a:p>
        </p:txBody>
      </p:sp>
      <p:sp>
        <p:nvSpPr>
          <p:cNvPr id="8" name="Shape 67"/>
          <p:cNvSpPr txBox="1">
            <a:spLocks/>
          </p:cNvSpPr>
          <p:nvPr/>
        </p:nvSpPr>
        <p:spPr>
          <a:xfrm>
            <a:off x="467544" y="4091134"/>
            <a:ext cx="3888432" cy="62902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 sz="1100" dirty="0" smtClean="0"/>
              <a:t>Figure 8. </a:t>
            </a:r>
            <a:r>
              <a:rPr lang="en-US" sz="1100" dirty="0"/>
              <a:t>Scatter </a:t>
            </a:r>
            <a:r>
              <a:rPr lang="en-US" sz="1100" dirty="0" smtClean="0"/>
              <a:t>plot of ROC AUC and PR AUC with correlation coefficient value</a:t>
            </a:r>
            <a:endParaRPr lang="en" sz="1100" dirty="0"/>
          </a:p>
        </p:txBody>
      </p:sp>
      <p:sp>
        <p:nvSpPr>
          <p:cNvPr id="10" name="Прямоугольник 9"/>
          <p:cNvSpPr/>
          <p:nvPr/>
        </p:nvSpPr>
        <p:spPr>
          <a:xfrm>
            <a:off x="1115616" y="915566"/>
            <a:ext cx="2736304"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1" name="Прямоугольник 10"/>
          <p:cNvSpPr/>
          <p:nvPr/>
        </p:nvSpPr>
        <p:spPr>
          <a:xfrm>
            <a:off x="5580112" y="843558"/>
            <a:ext cx="2448271"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2" name="Shape 67"/>
          <p:cNvSpPr txBox="1">
            <a:spLocks/>
          </p:cNvSpPr>
          <p:nvPr/>
        </p:nvSpPr>
        <p:spPr>
          <a:xfrm>
            <a:off x="4355976" y="1563638"/>
            <a:ext cx="4536503" cy="162018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0" marR="0" lvl="0" indent="114300" algn="l" rtl="0">
              <a:lnSpc>
                <a:spcPct val="115000"/>
              </a:lnSpc>
              <a:spcBef>
                <a:spcPts val="0"/>
              </a:spcBef>
              <a:spcAft>
                <a:spcPts val="1600"/>
              </a:spcAft>
              <a:buClr>
                <a:schemeClr val="dk2"/>
              </a:buClr>
              <a:buSzPct val="100000"/>
              <a:buFont typeface="Arial"/>
              <a:buChar char="●"/>
              <a:defRPr sz="1800" b="0" i="0" u="none" strike="noStrike" cap="none">
                <a:solidFill>
                  <a:schemeClr val="dk2"/>
                </a:solidFill>
                <a:latin typeface="Arial"/>
                <a:ea typeface="Arial"/>
                <a:cs typeface="Arial"/>
                <a:sym typeface="Arial"/>
              </a:defRPr>
            </a:lvl1pPr>
            <a:lvl2pPr marL="0" marR="0" lvl="1"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2pPr>
            <a:lvl3pPr marL="0" marR="0" lvl="2"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3pPr>
            <a:lvl4pPr marL="0" marR="0" lvl="3"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0" marR="0" lvl="4"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0" marR="0" lvl="5"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6pPr>
            <a:lvl7pPr marL="0" marR="0" lvl="6"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7pPr>
            <a:lvl8pPr marL="0" marR="0" lvl="7"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8pPr>
            <a:lvl9pPr marL="0" marR="0" lvl="8" indent="88900" algn="l" rtl="0">
              <a:lnSpc>
                <a:spcPct val="115000"/>
              </a:lnSpc>
              <a:spcBef>
                <a:spcPts val="0"/>
              </a:spcBef>
              <a:spcAft>
                <a:spcPts val="1600"/>
              </a:spcAft>
              <a:buClr>
                <a:schemeClr val="dk2"/>
              </a:buClr>
              <a:buSzPct val="100000"/>
              <a:buFont typeface="Arial"/>
              <a:buChar char="■"/>
              <a:defRPr sz="1400" b="0" i="0" u="none" strike="noStrike" cap="none">
                <a:solidFill>
                  <a:schemeClr val="dk2"/>
                </a:solidFill>
                <a:latin typeface="Arial"/>
                <a:ea typeface="Arial"/>
                <a:cs typeface="Arial"/>
                <a:sym typeface="Arial"/>
              </a:defRPr>
            </a:lvl9pPr>
          </a:lstStyle>
          <a:p>
            <a:pPr indent="0">
              <a:spcAft>
                <a:spcPts val="0"/>
              </a:spcAft>
              <a:buSzPct val="25000"/>
              <a:buNone/>
            </a:pPr>
            <a:r>
              <a:rPr lang="en-US" sz="1600" dirty="0" smtClean="0"/>
              <a:t>Linear correlation between ROC AUC and PR AUC values with different sample sizes is strong enough (if samples with little sample sizes are ignored). On different random samples selection it varies in range [0.60; 0.95]</a:t>
            </a:r>
            <a:endParaRPr lang="en" sz="1600" dirty="0"/>
          </a:p>
        </p:txBody>
      </p:sp>
    </p:spTree>
    <p:extLst>
      <p:ext uri="{BB962C8B-B14F-4D97-AF65-F5344CB8AC3E}">
        <p14:creationId xmlns:p14="http://schemas.microsoft.com/office/powerpoint/2010/main" val="1135320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311700" y="267975"/>
            <a:ext cx="8520600" cy="572700"/>
          </a:xfrm>
          <a:prstGeom prst="rect">
            <a:avLst/>
          </a:prstGeom>
          <a:noFill/>
          <a:ln>
            <a:noFill/>
          </a:ln>
        </p:spPr>
        <p:txBody>
          <a:bodyPr wrap="square"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3600" b="0" i="0" u="none" strike="noStrike" cap="none">
                <a:solidFill>
                  <a:schemeClr val="dk1"/>
                </a:solidFill>
                <a:latin typeface="Arial"/>
                <a:ea typeface="Arial"/>
                <a:cs typeface="Arial"/>
                <a:sym typeface="Arial"/>
              </a:rPr>
              <a:t>Выводы</a:t>
            </a:r>
          </a:p>
        </p:txBody>
      </p:sp>
      <p:sp>
        <p:nvSpPr>
          <p:cNvPr id="85" name="Shape 85"/>
          <p:cNvSpPr txBox="1">
            <a:spLocks noGrp="1"/>
          </p:cNvSpPr>
          <p:nvPr>
            <p:ph type="body" idx="1"/>
          </p:nvPr>
        </p:nvSpPr>
        <p:spPr>
          <a:xfrm>
            <a:off x="311700" y="1024425"/>
            <a:ext cx="8520600" cy="3544500"/>
          </a:xfrm>
          <a:prstGeom prst="rect">
            <a:avLst/>
          </a:prstGeom>
          <a:noFill/>
          <a:ln>
            <a:noFill/>
          </a:ln>
        </p:spPr>
        <p:txBody>
          <a:bodyPr wrap="square" lIns="91425" tIns="91425" rIns="91425" bIns="91425" anchor="t" anchorCtr="0">
            <a:noAutofit/>
          </a:bodyPr>
          <a:lstStyle/>
          <a:p>
            <a:pPr lvl="0" indent="0">
              <a:spcAft>
                <a:spcPts val="0"/>
              </a:spcAft>
              <a:buSzPct val="25000"/>
              <a:buNone/>
            </a:pPr>
            <a:r>
              <a:rPr lang="en" sz="2000" b="0" i="0" u="none" strike="noStrike" cap="none" dirty="0" smtClean="0">
                <a:solidFill>
                  <a:schemeClr val="dk2"/>
                </a:solidFill>
                <a:sym typeface="Arial"/>
              </a:rPr>
              <a:t>ROC and PR curves can help to decide which classifier is more appropriate. Classifier h1 is better than classifier h2 if it’s curve is closer to the ideal.</a:t>
            </a:r>
          </a:p>
          <a:p>
            <a:pPr lvl="0" indent="0">
              <a:spcAft>
                <a:spcPts val="0"/>
              </a:spcAft>
              <a:buSzPct val="25000"/>
              <a:buNone/>
            </a:pPr>
            <a:r>
              <a:rPr lang="en-US" sz="2000" dirty="0" smtClean="0"/>
              <a:t>PR curve </a:t>
            </a:r>
            <a:r>
              <a:rPr lang="en-US" sz="2000" dirty="0"/>
              <a:t>is more informative when dealing with “</a:t>
            </a:r>
            <a:r>
              <a:rPr lang="en-US" sz="2000" dirty="0" smtClean="0"/>
              <a:t>needle-in-haystack” type </a:t>
            </a:r>
            <a:r>
              <a:rPr lang="en-US" sz="2000" dirty="0"/>
              <a:t>problems or problems where the positive class is </a:t>
            </a:r>
            <a:r>
              <a:rPr lang="en-US" sz="2000" dirty="0" smtClean="0"/>
              <a:t>more important </a:t>
            </a:r>
            <a:r>
              <a:rPr lang="en-US" sz="2000" dirty="0"/>
              <a:t>than the negative </a:t>
            </a:r>
            <a:r>
              <a:rPr lang="en-US" sz="2000" dirty="0" smtClean="0"/>
              <a:t>class.</a:t>
            </a:r>
          </a:p>
          <a:p>
            <a:pPr lvl="0" indent="0">
              <a:spcAft>
                <a:spcPts val="0"/>
              </a:spcAft>
              <a:buSzPct val="25000"/>
              <a:buNone/>
            </a:pPr>
            <a:r>
              <a:rPr lang="en-US" sz="2000" dirty="0" smtClean="0"/>
              <a:t>AUC of both curves can help to compare curves not relaying on their visualization. The closer AUC value to 1.0 the better is classifier.</a:t>
            </a:r>
          </a:p>
          <a:p>
            <a:pPr lvl="0" indent="0">
              <a:spcAft>
                <a:spcPts val="0"/>
              </a:spcAft>
              <a:buSzPct val="25000"/>
              <a:buNone/>
            </a:pPr>
            <a:endParaRPr lang="en" sz="2000" b="0" i="0" u="none" strike="noStrike" cap="none" dirty="0">
              <a:solidFill>
                <a:schemeClr val="dk2"/>
              </a:solidFil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1567</TotalTime>
  <Words>903</Words>
  <Application>Microsoft Office PowerPoint</Application>
  <PresentationFormat>Экран (16:9)</PresentationFormat>
  <Paragraphs>81</Paragraphs>
  <Slides>12</Slides>
  <Notes>12</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Simple Light</vt:lpstr>
      <vt:lpstr>Binary model-wide measures</vt:lpstr>
      <vt:lpstr>Исходные данные</vt:lpstr>
      <vt:lpstr>Исходные данные</vt:lpstr>
      <vt:lpstr>Используемые методы и формулы</vt:lpstr>
      <vt:lpstr>Используемые методы и формулы</vt:lpstr>
      <vt:lpstr>Используемые методы и формулы</vt:lpstr>
      <vt:lpstr>Используемые методы и формулы</vt:lpstr>
      <vt:lpstr>Результаты исследований</vt:lpstr>
      <vt:lpstr>Результаты исследований</vt:lpstr>
      <vt:lpstr>Результаты исследований</vt:lpstr>
      <vt:lpstr>Результаты исследований</vt:lpstr>
      <vt:lpstr>Выводы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model-wide measures</dc:title>
  <cp:lastModifiedBy>BPC</cp:lastModifiedBy>
  <cp:revision>36</cp:revision>
  <dcterms:modified xsi:type="dcterms:W3CDTF">2017-10-11T20:13:36Z</dcterms:modified>
</cp:coreProperties>
</file>